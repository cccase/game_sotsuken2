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4571CF-3FED-44BE-BEF1-93D96103B562}">
  <a:tblStyle styleId="{7C4571CF-3FED-44BE-BEF1-93D96103B56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jstage.jst.go.jp/article/jssep/45/0/45_441/_article/-char/ja"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jstage.jst.go.jp/article/jssep/45/0/45_441/_article/-char/ja"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5e8c192bf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5e8c192bf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5ff88640a9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5ff88640a9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ja"/>
              <a:t>400円は1000円の何割でしょうか。</a:t>
            </a:r>
            <a:endParaRPr/>
          </a:p>
          <a:p>
            <a:pPr indent="0" lvl="0" marL="0" rtl="0" algn="l">
              <a:lnSpc>
                <a:spcPct val="100000"/>
              </a:lnSpc>
              <a:spcBef>
                <a:spcPts val="0"/>
              </a:spcBef>
              <a:spcAft>
                <a:spcPts val="0"/>
              </a:spcAft>
              <a:buSzPts val="1100"/>
              <a:buNone/>
            </a:pPr>
            <a:r>
              <a:rPr lang="ja"/>
              <a:t>1000円を1としたとき、400円はいくつ？</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ja"/>
              <a:t>https://u-fukui.repo.nii.ac.jp/record/26573/files/BD00005443_001.pdf</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5ff88640a9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5ff88640a9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u="sng">
                <a:solidFill>
                  <a:schemeClr val="hlink"/>
                </a:solidFill>
                <a:hlinkClick r:id="rId2"/>
              </a:rPr>
              <a:t>小学算数「単位量当たりの大きさ」が中学理科「密度」に与える影響は？</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5ff88640a9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5ff88640a9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5ff88640a9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5ff88640a9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ja"/>
              <a:t>私の</a:t>
            </a:r>
            <a:r>
              <a:rPr lang="ja"/>
              <a:t>年齢</a:t>
            </a:r>
            <a:r>
              <a:rPr lang="ja"/>
              <a:t>は、12 才 です。お⽗さんの</a:t>
            </a:r>
            <a:r>
              <a:rPr lang="ja"/>
              <a:t>年齢</a:t>
            </a:r>
            <a:r>
              <a:rPr lang="ja"/>
              <a:t>は、48 才 です。お⽗さんの年れいは、私の何倍でしょう。</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私の年齢を1としたとき、お父さんの年齢はいくつか？</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5ff88640a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5ff88640a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ja"/>
              <a:t>https://view-next.benesse.jp/berd/center/open/syo/view21/2009/09/s01toku_09.html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5ff88640a9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5ff88640a9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http://www.jstage.jst.go.jp/article/jssep/45/0/45_157/_pdf/-char/ja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e8c192bf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5e8c192bf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60733e83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60733e8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69c48200a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69c48200a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71186e3b37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71186e3b37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71186e3b37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71186e3b37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71186e3b3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371186e3b37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ja"/>
              <a:t>400円は1000円の何割でしょうか。</a:t>
            </a:r>
            <a:endParaRPr/>
          </a:p>
          <a:p>
            <a:pPr indent="0" lvl="0" marL="0" rtl="0" algn="l">
              <a:lnSpc>
                <a:spcPct val="100000"/>
              </a:lnSpc>
              <a:spcBef>
                <a:spcPts val="0"/>
              </a:spcBef>
              <a:spcAft>
                <a:spcPts val="0"/>
              </a:spcAft>
              <a:buSzPts val="1100"/>
              <a:buNone/>
            </a:pPr>
            <a:r>
              <a:rPr lang="ja"/>
              <a:t>1000円を1としたとき、400円はいくつ？</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ja"/>
              <a:t>https://u-fukui.repo.nii.ac.jp/record/26573/files/BD00005443_001.pdf</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71186e3b3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71186e3b3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u="sng">
                <a:solidFill>
                  <a:schemeClr val="hlink"/>
                </a:solidFill>
                <a:hlinkClick r:id="rId2"/>
              </a:rPr>
              <a:t>小学算数「単位量当たりの大きさ」が中学理科「密度」に与える影響は？</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71186e3b37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71186e3b37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71186e3b3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71186e3b3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71186e3b3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71186e3b3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71186e3b37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71186e3b37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6f6cd183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6f6cd183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6f6cd18364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6f6cd18364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6f6cd18364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6f6cd18364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6f6cd1836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6f6cd1836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6f6cd18364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6f6cd18364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6f6cd1836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6f6cd1836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6f6cd18364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6f6cd18364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6f6cd18364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6f6cd18364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89a9959b3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89a9959b3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89a9959b3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89a9959b3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89a9959b3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89a9959b3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89a9959b3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89a9959b3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89a9959b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89a9959b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89a9959b3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89a9959b3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85afa2456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85afa2456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85afa2456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85afa2456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6c918a79ef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6c918a79ef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あのゲームでは、どうやって計算したっけ</a:t>
            </a:r>
            <a:endParaRPr/>
          </a:p>
          <a:p>
            <a:pPr indent="0" lvl="0" marL="0" rtl="0" algn="l">
              <a:spcBef>
                <a:spcPts val="0"/>
              </a:spcBef>
              <a:spcAft>
                <a:spcPts val="0"/>
              </a:spcAft>
              <a:buNone/>
            </a:pPr>
            <a:r>
              <a:rPr lang="ja"/>
              <a:t>→ 計算が定着する</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6c918a79ef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6c918a79ef_1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a06c92ee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a06c92ee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a06c92ee4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a06c92ee4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a06c92ee4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a06c92ee4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a28ba02c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a28ba02c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a28ba02ca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a28ba02ca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a28ba02ca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a28ba02ca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a28ba02ca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a28ba02ca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a28ba02ca8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a28ba02ca8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a28ba02ca8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a28ba02ca8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a28ba02ca8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a28ba02ca8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a9eeb62d5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a9eeb62d5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a9eeb62d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a9eeb62d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type="obj">
  <p:cSld name="OBJECT">
    <p:spTree>
      <p:nvGrpSpPr>
        <p:cNvPr id="95" name="Shape 95"/>
        <p:cNvGrpSpPr/>
        <p:nvPr/>
      </p:nvGrpSpPr>
      <p:grpSpPr>
        <a:xfrm>
          <a:off x="0" y="0"/>
          <a:ext cx="0" cy="0"/>
          <a:chOff x="0" y="0"/>
          <a:chExt cx="0" cy="0"/>
        </a:xfrm>
      </p:grpSpPr>
      <p:sp>
        <p:nvSpPr>
          <p:cNvPr id="96" name="Google Shape;96;p2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 name="Google Shape;97;p2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98" name="Google Shape;98;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99" name="Google Shape;99;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0" name="Google Shape;100;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1.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kuronekoneko.com/5nentaniryogame/" TargetMode="External"/><Relationship Id="rId4" Type="http://schemas.openxmlformats.org/officeDocument/2006/relationships/hyperlink" Target="https://www2.nhk.or.jp/school/watch/bangumi/?das_id=D0005160105_00000" TargetMode="External"/><Relationship Id="rId5" Type="http://schemas.openxmlformats.org/officeDocument/2006/relationships/hyperlink" Target="https://view-next.benesse.jp/berd/center/open/syo/view21/2009/09/s01toku_17.html" TargetMode="External"/><Relationship Id="rId6" Type="http://schemas.openxmlformats.org/officeDocument/2006/relationships/hyperlink" Target="https://www.youtube.com/watch?v=iy9m0XclLJ4"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10.png"/><Relationship Id="rId4" Type="http://schemas.openxmlformats.org/officeDocument/2006/relationships/hyperlink" Target="https://cccase.github.io/GAME_SOTSUKEN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ja"/>
              <a:t>卒業研究</a:t>
            </a:r>
            <a:endParaRPr/>
          </a:p>
        </p:txBody>
      </p:sp>
      <p:sp>
        <p:nvSpPr>
          <p:cNvPr id="106" name="Google Shape;106;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ja"/>
              <a:t>難波 航星</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テーマ</a:t>
            </a:r>
            <a:endParaRPr/>
          </a:p>
        </p:txBody>
      </p:sp>
      <p:sp>
        <p:nvSpPr>
          <p:cNvPr id="112" name="Google Shape;112;p27"/>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ctr">
              <a:lnSpc>
                <a:spcPct val="200000"/>
              </a:lnSpc>
              <a:spcBef>
                <a:spcPts val="0"/>
              </a:spcBef>
              <a:spcAft>
                <a:spcPts val="0"/>
              </a:spcAft>
              <a:buNone/>
            </a:pPr>
            <a:r>
              <a:rPr lang="ja" sz="2100"/>
              <a:t>「単位量あたり」を体験的に理解できるシリアスゲームによって、</a:t>
            </a:r>
            <a:endParaRPr sz="2100"/>
          </a:p>
          <a:p>
            <a:pPr indent="0" lvl="0" marL="0" rtl="0" algn="ctr">
              <a:lnSpc>
                <a:spcPct val="200000"/>
              </a:lnSpc>
              <a:spcBef>
                <a:spcPts val="0"/>
              </a:spcBef>
              <a:spcAft>
                <a:spcPts val="0"/>
              </a:spcAft>
              <a:buNone/>
            </a:pPr>
            <a:r>
              <a:rPr lang="ja" sz="2100"/>
              <a:t>式の意味を十分に理解できていないというを解決し、</a:t>
            </a:r>
            <a:endParaRPr sz="2100"/>
          </a:p>
          <a:p>
            <a:pPr indent="0" lvl="0" marL="0" rtl="0" algn="ctr">
              <a:lnSpc>
                <a:spcPct val="200000"/>
              </a:lnSpc>
              <a:spcBef>
                <a:spcPts val="0"/>
              </a:spcBef>
              <a:spcAft>
                <a:spcPts val="0"/>
              </a:spcAft>
              <a:buNone/>
            </a:pPr>
            <a:r>
              <a:rPr lang="ja" sz="2100"/>
              <a:t>児童の「単位量あたり」の理解力上昇を達成することです</a:t>
            </a:r>
            <a:endParaRPr sz="2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研究内容（提出物②）</a:t>
            </a:r>
            <a:endParaRPr/>
          </a:p>
        </p:txBody>
      </p:sp>
      <p:sp>
        <p:nvSpPr>
          <p:cNvPr id="118" name="Google Shape;118;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4960" lvl="0" marL="457200" rtl="0" algn="l">
              <a:lnSpc>
                <a:spcPct val="100000"/>
              </a:lnSpc>
              <a:spcBef>
                <a:spcPts val="0"/>
              </a:spcBef>
              <a:spcAft>
                <a:spcPts val="0"/>
              </a:spcAft>
              <a:buSzPts val="1360"/>
              <a:buChar char="●"/>
            </a:pPr>
            <a:r>
              <a:rPr lang="ja" sz="1360"/>
              <a:t>私は、「小学生高学年で割合が苦手な児童が多い」という社会課題に取り組みます。</a:t>
            </a:r>
            <a:endParaRPr sz="1360"/>
          </a:p>
          <a:p>
            <a:pPr indent="-314960" lvl="0" marL="457200" rtl="0" algn="l">
              <a:lnSpc>
                <a:spcPct val="100000"/>
              </a:lnSpc>
              <a:spcBef>
                <a:spcPts val="1000"/>
              </a:spcBef>
              <a:spcAft>
                <a:spcPts val="0"/>
              </a:spcAft>
              <a:buSzPts val="1360"/>
              <a:buChar char="●"/>
            </a:pPr>
            <a:r>
              <a:rPr lang="ja" sz="1360"/>
              <a:t>これに取り組むことには、「児童の算数の理解力上昇」という教育的・学術的意義があります。</a:t>
            </a:r>
            <a:endParaRPr sz="1360"/>
          </a:p>
          <a:p>
            <a:pPr indent="-314960" lvl="0" marL="457200" rtl="0" algn="l">
              <a:lnSpc>
                <a:spcPct val="100000"/>
              </a:lnSpc>
              <a:spcBef>
                <a:spcPts val="1000"/>
              </a:spcBef>
              <a:spcAft>
                <a:spcPts val="0"/>
              </a:spcAft>
              <a:buSzPts val="1360"/>
              <a:buChar char="●"/>
            </a:pPr>
            <a:r>
              <a:rPr lang="ja" sz="1360"/>
              <a:t>しかし、「式の意味を十分に理解できていない」ということが、現在の大きな課題になっています。</a:t>
            </a:r>
            <a:endParaRPr sz="1360"/>
          </a:p>
          <a:p>
            <a:pPr indent="-314960" lvl="0" marL="457200" rtl="0" algn="l">
              <a:lnSpc>
                <a:spcPct val="100000"/>
              </a:lnSpc>
              <a:spcBef>
                <a:spcPts val="1000"/>
              </a:spcBef>
              <a:spcAft>
                <a:spcPts val="0"/>
              </a:spcAft>
              <a:buSzPts val="1360"/>
              <a:buChar char="●"/>
            </a:pPr>
            <a:r>
              <a:rPr lang="ja" sz="1360"/>
              <a:t>この課題を解決するための一番の問題は、「割り算の意味を根本的に理解できていないこと」です。</a:t>
            </a:r>
            <a:endParaRPr sz="1360"/>
          </a:p>
          <a:p>
            <a:pPr indent="0" lvl="0" marL="0" rtl="0" algn="l">
              <a:lnSpc>
                <a:spcPct val="100000"/>
              </a:lnSpc>
              <a:spcBef>
                <a:spcPts val="1000"/>
              </a:spcBef>
              <a:spcAft>
                <a:spcPts val="0"/>
              </a:spcAft>
              <a:buNone/>
            </a:pPr>
            <a:r>
              <a:rPr lang="ja" sz="1360"/>
              <a:t>↓↓↓</a:t>
            </a:r>
            <a:endParaRPr sz="1360"/>
          </a:p>
          <a:p>
            <a:pPr indent="-314960" lvl="0" marL="457200" rtl="0" algn="l">
              <a:lnSpc>
                <a:spcPct val="100000"/>
              </a:lnSpc>
              <a:spcBef>
                <a:spcPts val="1000"/>
              </a:spcBef>
              <a:spcAft>
                <a:spcPts val="0"/>
              </a:spcAft>
              <a:buSzPts val="1360"/>
              <a:buChar char="●"/>
            </a:pPr>
            <a:r>
              <a:rPr lang="ja" sz="1360"/>
              <a:t>そこで私は、「割合の意味を体験的に理解できるシリアスゲーム」というアプローチを取ります。</a:t>
            </a:r>
            <a:endParaRPr sz="1360"/>
          </a:p>
          <a:p>
            <a:pPr indent="-314960" lvl="0" marL="457200" rtl="0" algn="l">
              <a:lnSpc>
                <a:spcPct val="100000"/>
              </a:lnSpc>
              <a:spcBef>
                <a:spcPts val="1000"/>
              </a:spcBef>
              <a:spcAft>
                <a:spcPts val="0"/>
              </a:spcAft>
              <a:buSzPts val="1360"/>
              <a:buChar char="●"/>
            </a:pPr>
            <a:r>
              <a:rPr lang="ja" sz="1360"/>
              <a:t>対象にした問題は、「児童が割合の式を意味のない計算手順として覚えてしまっていること」なので、このアプローチを取ることには、「自分で操作しながら式と結果を観察し、考えることができる」という良さがあります。</a:t>
            </a:r>
            <a:endParaRPr sz="1360"/>
          </a:p>
          <a:p>
            <a:pPr indent="-314960" lvl="0" marL="457200" rtl="0" algn="l">
              <a:lnSpc>
                <a:spcPct val="100000"/>
              </a:lnSpc>
              <a:spcBef>
                <a:spcPts val="1000"/>
              </a:spcBef>
              <a:spcAft>
                <a:spcPts val="0"/>
              </a:spcAft>
              <a:buSzPts val="1360"/>
              <a:buChar char="●"/>
            </a:pPr>
            <a:r>
              <a:rPr lang="ja" sz="1360"/>
              <a:t>また、このアプローチを取ることで、「割合の式がなぜそのようになるのか」「どのような関係を表しているのか」といったことを、児童自身が操作や振り返りを通じて理解できるようになり、学習上のつまずきの解消につながります。</a:t>
            </a:r>
            <a:endParaRPr sz="1360"/>
          </a:p>
          <a:p>
            <a:pPr indent="0" lvl="0" marL="0" rtl="0" algn="l">
              <a:lnSpc>
                <a:spcPct val="100000"/>
              </a:lnSpc>
              <a:spcBef>
                <a:spcPts val="1000"/>
              </a:spcBef>
              <a:spcAft>
                <a:spcPts val="1000"/>
              </a:spcAft>
              <a:buNone/>
            </a:pPr>
            <a:r>
              <a:t/>
            </a:r>
            <a:endParaRPr sz="136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現状</a:t>
            </a:r>
            <a:endParaRPr/>
          </a:p>
        </p:txBody>
      </p:sp>
      <p:sp>
        <p:nvSpPr>
          <p:cNvPr id="124" name="Google Shape;124;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lang="ja"/>
              <a:t>小学生高学年の算数で特に躓きやすい単元</a:t>
            </a:r>
            <a:endParaRPr/>
          </a:p>
          <a:p>
            <a:pPr indent="-330200" lvl="0" marL="457200" rtl="0" algn="l">
              <a:lnSpc>
                <a:spcPct val="115000"/>
              </a:lnSpc>
              <a:spcBef>
                <a:spcPts val="1200"/>
              </a:spcBef>
              <a:spcAft>
                <a:spcPts val="0"/>
              </a:spcAft>
              <a:buSzPts val="1600"/>
              <a:buAutoNum type="arabicPeriod"/>
            </a:pPr>
            <a:r>
              <a:rPr lang="ja" sz="1600"/>
              <a:t>割合（小5）</a:t>
            </a:r>
            <a:endParaRPr sz="1600"/>
          </a:p>
          <a:p>
            <a:pPr indent="-330200" lvl="0" marL="457200" rtl="0" algn="l">
              <a:lnSpc>
                <a:spcPct val="115000"/>
              </a:lnSpc>
              <a:spcBef>
                <a:spcPts val="0"/>
              </a:spcBef>
              <a:spcAft>
                <a:spcPts val="0"/>
              </a:spcAft>
              <a:buSzPts val="1600"/>
              <a:buAutoNum type="arabicPeriod"/>
            </a:pPr>
            <a:r>
              <a:rPr lang="ja" sz="1600"/>
              <a:t>分数の計算</a:t>
            </a:r>
            <a:endParaRPr sz="1600"/>
          </a:p>
          <a:p>
            <a:pPr indent="-330200" lvl="0" marL="457200" rtl="0" algn="l">
              <a:lnSpc>
                <a:spcPct val="115000"/>
              </a:lnSpc>
              <a:spcBef>
                <a:spcPts val="0"/>
              </a:spcBef>
              <a:spcAft>
                <a:spcPts val="0"/>
              </a:spcAft>
              <a:buSzPts val="1600"/>
              <a:buAutoNum type="arabicPeriod"/>
            </a:pPr>
            <a:r>
              <a:rPr lang="ja" sz="1600"/>
              <a:t>速さ</a:t>
            </a:r>
            <a:endParaRPr sz="1600"/>
          </a:p>
          <a:p>
            <a:pPr indent="0" lvl="0" marL="0" rtl="0" algn="l">
              <a:lnSpc>
                <a:spcPct val="115000"/>
              </a:lnSpc>
              <a:spcBef>
                <a:spcPts val="1200"/>
              </a:spcBef>
              <a:spcAft>
                <a:spcPts val="0"/>
              </a:spcAft>
              <a:buNone/>
            </a:pPr>
            <a:r>
              <a:rPr lang="ja"/>
              <a:t>単位の変換や単位あたりなども苦手</a:t>
            </a:r>
            <a:endParaRPr/>
          </a:p>
          <a:p>
            <a:pPr indent="0" lvl="0" marL="0" rtl="0" algn="l">
              <a:lnSpc>
                <a:spcPct val="115000"/>
              </a:lnSpc>
              <a:spcBef>
                <a:spcPts val="1200"/>
              </a:spcBef>
              <a:spcAft>
                <a:spcPts val="0"/>
              </a:spcAft>
              <a:buNone/>
            </a:pPr>
            <a:r>
              <a:rPr lang="ja"/>
              <a:t>計算はできるが、式をつくることができない</a:t>
            </a:r>
            <a:endParaRPr/>
          </a:p>
        </p:txBody>
      </p:sp>
      <p:sp>
        <p:nvSpPr>
          <p:cNvPr id="125" name="Google Shape;125;p29"/>
          <p:cNvSpPr txBox="1"/>
          <p:nvPr/>
        </p:nvSpPr>
        <p:spPr>
          <a:xfrm>
            <a:off x="5532925" y="4732750"/>
            <a:ext cx="3650400" cy="4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800">
                <a:solidFill>
                  <a:schemeClr val="dk2"/>
                </a:solidFill>
              </a:rPr>
              <a:t>https://benesse.jp/kyouiku/201610/20161029-1.html，ベネッセ教育情報</a:t>
            </a:r>
            <a:endParaRPr sz="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課題、問題</a:t>
            </a:r>
            <a:endParaRPr/>
          </a:p>
        </p:txBody>
      </p:sp>
      <p:sp>
        <p:nvSpPr>
          <p:cNvPr id="131" name="Google Shape;13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割合、単位量あたりでつまずいている</a:t>
            </a:r>
            <a:endParaRPr/>
          </a:p>
          <a:p>
            <a:pPr indent="-342900" lvl="0" marL="457200" rtl="0" algn="l">
              <a:spcBef>
                <a:spcPts val="0"/>
              </a:spcBef>
              <a:spcAft>
                <a:spcPts val="0"/>
              </a:spcAft>
              <a:buSzPts val="1800"/>
              <a:buChar char="●"/>
            </a:pPr>
            <a:r>
              <a:rPr lang="ja"/>
              <a:t>計算はできるが、文章問題と式が結びつかない</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ja"/>
              <a:t>ここでつまづくと、その後の中学理科などでもつまづいてしまう</a:t>
            </a:r>
            <a:endParaRPr/>
          </a:p>
          <a:p>
            <a:pPr indent="-342900" lvl="0" marL="457200" rtl="0" algn="l">
              <a:spcBef>
                <a:spcPts val="0"/>
              </a:spcBef>
              <a:spcAft>
                <a:spcPts val="0"/>
              </a:spcAft>
              <a:buSzPts val="1800"/>
              <a:buChar char="●"/>
            </a:pPr>
            <a:r>
              <a:rPr lang="ja"/>
              <a:t>具体例から式の立て方を学ぶ</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7" name="Google Shape;13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lnSpc>
                <a:spcPct val="115000"/>
              </a:lnSpc>
              <a:spcBef>
                <a:spcPts val="1800"/>
              </a:spcBef>
              <a:spcAft>
                <a:spcPts val="0"/>
              </a:spcAft>
              <a:buClr>
                <a:schemeClr val="dk1"/>
              </a:buClr>
              <a:buSzPts val="1700"/>
              <a:buChar char="●"/>
            </a:pPr>
            <a:r>
              <a:rPr b="1" lang="ja" sz="1700">
                <a:solidFill>
                  <a:schemeClr val="dk1"/>
                </a:solidFill>
              </a:rPr>
              <a:t>WHO</a:t>
            </a:r>
            <a:endParaRPr b="1" sz="17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小学生が望んでいる</a:t>
            </a:r>
            <a:endParaRPr sz="1100">
              <a:solidFill>
                <a:schemeClr val="dk1"/>
              </a:solidFill>
            </a:endParaRPr>
          </a:p>
          <a:p>
            <a:pPr indent="-336550" lvl="0" marL="457200" rtl="0" algn="l">
              <a:lnSpc>
                <a:spcPct val="115000"/>
              </a:lnSpc>
              <a:spcBef>
                <a:spcPts val="0"/>
              </a:spcBef>
              <a:spcAft>
                <a:spcPts val="0"/>
              </a:spcAft>
              <a:buClr>
                <a:schemeClr val="dk1"/>
              </a:buClr>
              <a:buSzPts val="1700"/>
              <a:buChar char="●"/>
            </a:pPr>
            <a:r>
              <a:rPr b="1" lang="ja" sz="1700">
                <a:solidFill>
                  <a:schemeClr val="dk1"/>
                </a:solidFill>
              </a:rPr>
              <a:t>WHAT</a:t>
            </a:r>
            <a:endParaRPr b="1" sz="17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割合が理解できない。式の意味が理解できない　理解を助けたい</a:t>
            </a:r>
            <a:endParaRPr sz="1100">
              <a:solidFill>
                <a:schemeClr val="dk1"/>
              </a:solidFill>
            </a:endParaRPr>
          </a:p>
          <a:p>
            <a:pPr indent="-336550" lvl="0" marL="457200" rtl="0" algn="l">
              <a:lnSpc>
                <a:spcPct val="115000"/>
              </a:lnSpc>
              <a:spcBef>
                <a:spcPts val="0"/>
              </a:spcBef>
              <a:spcAft>
                <a:spcPts val="0"/>
              </a:spcAft>
              <a:buClr>
                <a:schemeClr val="dk1"/>
              </a:buClr>
              <a:buSzPts val="1700"/>
              <a:buChar char="●"/>
            </a:pPr>
            <a:r>
              <a:rPr b="1" lang="ja" sz="1700">
                <a:solidFill>
                  <a:schemeClr val="dk1"/>
                </a:solidFill>
              </a:rPr>
              <a:t>WHEN</a:t>
            </a:r>
            <a:endParaRPr b="1" sz="17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ずっと　小学生から中学生の間</a:t>
            </a:r>
            <a:endParaRPr sz="1100">
              <a:solidFill>
                <a:schemeClr val="dk1"/>
              </a:solidFill>
            </a:endParaRPr>
          </a:p>
          <a:p>
            <a:pPr indent="-336550" lvl="0" marL="457200" rtl="0" algn="l">
              <a:lnSpc>
                <a:spcPct val="115000"/>
              </a:lnSpc>
              <a:spcBef>
                <a:spcPts val="0"/>
              </a:spcBef>
              <a:spcAft>
                <a:spcPts val="0"/>
              </a:spcAft>
              <a:buClr>
                <a:schemeClr val="dk1"/>
              </a:buClr>
              <a:buSzPts val="1700"/>
              <a:buChar char="●"/>
            </a:pPr>
            <a:r>
              <a:rPr b="1" lang="ja" sz="1700">
                <a:solidFill>
                  <a:schemeClr val="dk1"/>
                </a:solidFill>
              </a:rPr>
              <a:t>WEHRE</a:t>
            </a:r>
            <a:endParaRPr b="1" sz="17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全国の小学校</a:t>
            </a:r>
            <a:endParaRPr sz="1100">
              <a:solidFill>
                <a:schemeClr val="dk1"/>
              </a:solidFill>
            </a:endParaRPr>
          </a:p>
          <a:p>
            <a:pPr indent="-336550" lvl="0" marL="457200" rtl="0" algn="l">
              <a:lnSpc>
                <a:spcPct val="115000"/>
              </a:lnSpc>
              <a:spcBef>
                <a:spcPts val="0"/>
              </a:spcBef>
              <a:spcAft>
                <a:spcPts val="0"/>
              </a:spcAft>
              <a:buClr>
                <a:schemeClr val="dk1"/>
              </a:buClr>
              <a:buSzPts val="1700"/>
              <a:buChar char="●"/>
            </a:pPr>
            <a:r>
              <a:rPr b="1" lang="ja" sz="1700">
                <a:solidFill>
                  <a:schemeClr val="dk1"/>
                </a:solidFill>
              </a:rPr>
              <a:t>WHY</a:t>
            </a:r>
            <a:endParaRPr b="1" sz="17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集団の授業だから？学習指導要領をすべてやる必要があり、スピードが早い？</a:t>
            </a:r>
            <a:endParaRPr sz="1100">
              <a:solidFill>
                <a:schemeClr val="dk1"/>
              </a:solidFill>
            </a:endParaRPr>
          </a:p>
          <a:p>
            <a:pPr indent="-336550" lvl="0" marL="457200" rtl="0" algn="l">
              <a:lnSpc>
                <a:spcPct val="115000"/>
              </a:lnSpc>
              <a:spcBef>
                <a:spcPts val="0"/>
              </a:spcBef>
              <a:spcAft>
                <a:spcPts val="0"/>
              </a:spcAft>
              <a:buClr>
                <a:schemeClr val="dk1"/>
              </a:buClr>
              <a:buSzPts val="1700"/>
              <a:buChar char="●"/>
            </a:pPr>
            <a:r>
              <a:rPr b="1" lang="ja" sz="1700">
                <a:solidFill>
                  <a:schemeClr val="dk1"/>
                </a:solidFill>
              </a:rPr>
              <a:t>HOW</a:t>
            </a:r>
            <a:endParaRPr b="1" sz="17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できる人とできない人が半々程度</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いままでの方法</a:t>
            </a:r>
            <a:endParaRPr/>
          </a:p>
        </p:txBody>
      </p:sp>
      <p:sp>
        <p:nvSpPr>
          <p:cNvPr id="143" name="Google Shape;143;p32"/>
          <p:cNvSpPr txBox="1"/>
          <p:nvPr>
            <p:ph idx="1" type="body"/>
          </p:nvPr>
        </p:nvSpPr>
        <p:spPr>
          <a:xfrm>
            <a:off x="311700" y="1152475"/>
            <a:ext cx="8520600" cy="39273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ja" sz="1700">
                <a:solidFill>
                  <a:schemeClr val="dk1"/>
                </a:solidFill>
              </a:rPr>
              <a:t>部屋の混み具合で考える</a:t>
            </a:r>
            <a:endParaRPr b="1" sz="1700">
              <a:solidFill>
                <a:schemeClr val="dk1"/>
              </a:solidFill>
            </a:endParaRPr>
          </a:p>
          <a:p>
            <a:pPr indent="-330200" lvl="0" marL="457200" rtl="0" algn="l">
              <a:spcBef>
                <a:spcPts val="1200"/>
              </a:spcBef>
              <a:spcAft>
                <a:spcPts val="0"/>
              </a:spcAft>
              <a:buClr>
                <a:schemeClr val="dk1"/>
              </a:buClr>
              <a:buSzPts val="1600"/>
              <a:buChar char="●"/>
            </a:pPr>
            <a:r>
              <a:rPr lang="ja" sz="1600" u="sng">
                <a:solidFill>
                  <a:schemeClr val="hlink"/>
                </a:solidFill>
                <a:hlinkClick r:id="rId3"/>
              </a:rPr>
              <a:t>スライドでイラストを見ながら教える</a:t>
            </a:r>
            <a:endParaRPr sz="1600" u="sng">
              <a:solidFill>
                <a:schemeClr val="hlink"/>
              </a:solidFill>
            </a:endParaRPr>
          </a:p>
          <a:p>
            <a:pPr indent="-330200" lvl="0" marL="457200" rtl="0" algn="l">
              <a:spcBef>
                <a:spcPts val="0"/>
              </a:spcBef>
              <a:spcAft>
                <a:spcPts val="0"/>
              </a:spcAft>
              <a:buClr>
                <a:schemeClr val="dk1"/>
              </a:buClr>
              <a:buSzPts val="1600"/>
              <a:buChar char="●"/>
            </a:pPr>
            <a:r>
              <a:rPr lang="ja" sz="1600" u="sng">
                <a:solidFill>
                  <a:schemeClr val="hlink"/>
                </a:solidFill>
                <a:hlinkClick r:id="rId4"/>
              </a:rPr>
              <a:t>動画で例を提示して考えさせる（NHK）</a:t>
            </a:r>
            <a:endParaRPr sz="1600" u="sng">
              <a:solidFill>
                <a:schemeClr val="hlink"/>
              </a:solidFill>
            </a:endParaRPr>
          </a:p>
          <a:p>
            <a:pPr indent="-330200" lvl="1" marL="914400" rtl="0" algn="l">
              <a:spcBef>
                <a:spcPts val="0"/>
              </a:spcBef>
              <a:spcAft>
                <a:spcPts val="0"/>
              </a:spcAft>
              <a:buClr>
                <a:schemeClr val="dk1"/>
              </a:buClr>
              <a:buSzPts val="1600"/>
              <a:buChar char="○"/>
            </a:pPr>
            <a:r>
              <a:rPr lang="ja" sz="1600">
                <a:solidFill>
                  <a:schemeClr val="dk1"/>
                </a:solidFill>
              </a:rPr>
              <a:t>部屋を人数で割れば良いことの説明がない</a:t>
            </a:r>
            <a:endParaRPr sz="1600">
              <a:solidFill>
                <a:schemeClr val="dk1"/>
              </a:solidFill>
            </a:endParaRPr>
          </a:p>
          <a:p>
            <a:pPr indent="-330200" lvl="0" marL="457200" rtl="0" algn="l">
              <a:spcBef>
                <a:spcPts val="0"/>
              </a:spcBef>
              <a:spcAft>
                <a:spcPts val="0"/>
              </a:spcAft>
              <a:buClr>
                <a:schemeClr val="dk1"/>
              </a:buClr>
              <a:buSzPts val="1600"/>
              <a:buChar char="●"/>
            </a:pPr>
            <a:r>
              <a:rPr lang="ja" sz="1600" u="sng">
                <a:solidFill>
                  <a:schemeClr val="hlink"/>
                </a:solidFill>
                <a:hlinkClick r:id="rId5"/>
              </a:rPr>
              <a:t>単位あたりの活用（Benesse）</a:t>
            </a:r>
            <a:endParaRPr sz="1600" u="sng">
              <a:solidFill>
                <a:schemeClr val="hlink"/>
              </a:solidFill>
            </a:endParaRPr>
          </a:p>
          <a:p>
            <a:pPr indent="-330200" lvl="1" marL="914400" rtl="0" algn="l">
              <a:spcBef>
                <a:spcPts val="0"/>
              </a:spcBef>
              <a:spcAft>
                <a:spcPts val="0"/>
              </a:spcAft>
              <a:buClr>
                <a:schemeClr val="dk1"/>
              </a:buClr>
              <a:buSzPts val="1600"/>
              <a:buChar char="○"/>
            </a:pPr>
            <a:r>
              <a:rPr lang="ja" sz="1600">
                <a:solidFill>
                  <a:schemeClr val="dk1"/>
                </a:solidFill>
              </a:rPr>
              <a:t>理解したあとの活用が主で、方法の説明が少ない</a:t>
            </a:r>
            <a:endParaRPr sz="1600">
              <a:solidFill>
                <a:schemeClr val="dk1"/>
              </a:solidFill>
            </a:endParaRPr>
          </a:p>
          <a:p>
            <a:pPr indent="-330200" lvl="0" marL="457200" rtl="0" algn="l">
              <a:spcBef>
                <a:spcPts val="0"/>
              </a:spcBef>
              <a:spcAft>
                <a:spcPts val="0"/>
              </a:spcAft>
              <a:buClr>
                <a:schemeClr val="dk1"/>
              </a:buClr>
              <a:buSzPts val="1600"/>
              <a:buChar char="●"/>
            </a:pPr>
            <a:r>
              <a:rPr lang="ja" sz="1600" u="sng">
                <a:solidFill>
                  <a:schemeClr val="hlink"/>
                </a:solidFill>
                <a:hlinkClick r:id="rId6"/>
              </a:rPr>
              <a:t>教科書のような解説（youtube）</a:t>
            </a:r>
            <a:endParaRPr sz="1600" u="sng">
              <a:solidFill>
                <a:schemeClr val="hlink"/>
              </a:solidFill>
            </a:endParaRPr>
          </a:p>
          <a:p>
            <a:pPr indent="-330200" lvl="1" marL="914400" rtl="0" algn="l">
              <a:spcBef>
                <a:spcPts val="0"/>
              </a:spcBef>
              <a:spcAft>
                <a:spcPts val="0"/>
              </a:spcAft>
              <a:buClr>
                <a:schemeClr val="dk1"/>
              </a:buClr>
              <a:buSzPts val="1600"/>
              <a:buChar char="○"/>
            </a:pPr>
            <a:r>
              <a:rPr lang="ja" sz="1600">
                <a:solidFill>
                  <a:schemeClr val="dk1"/>
                </a:solidFill>
              </a:rPr>
              <a:t>割り算の順番の解説がない</a:t>
            </a:r>
            <a:endParaRPr sz="1600">
              <a:solidFill>
                <a:schemeClr val="dk1"/>
              </a:solidFill>
            </a:endParaRPr>
          </a:p>
          <a:p>
            <a:pPr indent="0" lvl="0" marL="0" rtl="0" algn="l">
              <a:spcBef>
                <a:spcPts val="1200"/>
              </a:spcBef>
              <a:spcAft>
                <a:spcPts val="0"/>
              </a:spcAft>
              <a:buNone/>
            </a:pPr>
            <a:r>
              <a:rPr lang="ja" sz="1600">
                <a:solidFill>
                  <a:schemeClr val="dk1"/>
                </a:solidFill>
              </a:rPr>
              <a:t>↓↓↓</a:t>
            </a:r>
            <a:endParaRPr sz="1600">
              <a:solidFill>
                <a:schemeClr val="dk1"/>
              </a:solidFill>
            </a:endParaRPr>
          </a:p>
          <a:p>
            <a:pPr indent="0" lvl="0" marL="0" rtl="0" algn="l">
              <a:spcBef>
                <a:spcPts val="1200"/>
              </a:spcBef>
              <a:spcAft>
                <a:spcPts val="0"/>
              </a:spcAft>
              <a:buNone/>
            </a:pPr>
            <a:r>
              <a:rPr lang="ja" sz="1600">
                <a:solidFill>
                  <a:schemeClr val="dk1"/>
                </a:solidFill>
              </a:rPr>
              <a:t>計算の解説がない</a:t>
            </a:r>
            <a:endParaRPr sz="1600">
              <a:solidFill>
                <a:schemeClr val="dk1"/>
              </a:solidFill>
            </a:endParaRPr>
          </a:p>
          <a:p>
            <a:pPr indent="0" lvl="0" marL="0" rtl="0" algn="l">
              <a:spcBef>
                <a:spcPts val="1200"/>
              </a:spcBef>
              <a:spcAft>
                <a:spcPts val="1200"/>
              </a:spcAft>
              <a:buNone/>
            </a:pPr>
            <a:r>
              <a:rPr lang="ja" sz="1600">
                <a:solidFill>
                  <a:schemeClr val="dk1"/>
                </a:solidFill>
              </a:rPr>
              <a:t>比べる数 ÷ 元の数 = 割合　のように暗記になっている</a:t>
            </a:r>
            <a:endParaRPr sz="16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方法（目標）</a:t>
            </a:r>
            <a:endParaRPr/>
          </a:p>
        </p:txBody>
      </p:sp>
      <p:sp>
        <p:nvSpPr>
          <p:cNvPr id="149" name="Google Shape;149;p33"/>
          <p:cNvSpPr txBox="1"/>
          <p:nvPr>
            <p:ph idx="1" type="body"/>
          </p:nvPr>
        </p:nvSpPr>
        <p:spPr>
          <a:xfrm>
            <a:off x="311700" y="1152475"/>
            <a:ext cx="3575700" cy="3416400"/>
          </a:xfrm>
          <a:prstGeom prst="rect">
            <a:avLst/>
          </a:prstGeom>
        </p:spPr>
        <p:txBody>
          <a:bodyPr anchorCtr="0" anchor="t" bIns="91425" lIns="91425" spcFirstLastPara="1" rIns="91425" wrap="square" tIns="91425">
            <a:normAutofit/>
          </a:bodyPr>
          <a:lstStyle/>
          <a:p>
            <a:pPr indent="-311150" lvl="0" marL="457200" rtl="0" algn="l">
              <a:spcBef>
                <a:spcPts val="1200"/>
              </a:spcBef>
              <a:spcAft>
                <a:spcPts val="0"/>
              </a:spcAft>
              <a:buClr>
                <a:schemeClr val="dk1"/>
              </a:buClr>
              <a:buSzPts val="1300"/>
              <a:buChar char="●"/>
            </a:pPr>
            <a:r>
              <a:rPr lang="ja" sz="1300">
                <a:solidFill>
                  <a:schemeClr val="dk1"/>
                </a:solidFill>
              </a:rPr>
              <a:t>試行錯誤をさせる</a:t>
            </a:r>
            <a:endParaRPr sz="1300">
              <a:solidFill>
                <a:schemeClr val="dk1"/>
              </a:solidFill>
            </a:endParaRPr>
          </a:p>
          <a:p>
            <a:pPr indent="-311150" lvl="1" marL="914400" rtl="0" algn="l">
              <a:spcBef>
                <a:spcPts val="0"/>
              </a:spcBef>
              <a:spcAft>
                <a:spcPts val="0"/>
              </a:spcAft>
              <a:buClr>
                <a:schemeClr val="dk1"/>
              </a:buClr>
              <a:buSzPts val="1300"/>
              <a:buChar char="○"/>
            </a:pPr>
            <a:r>
              <a:rPr lang="ja" sz="1300">
                <a:solidFill>
                  <a:schemeClr val="dk1"/>
                </a:solidFill>
              </a:rPr>
              <a:t>その試行錯誤をあとから見返せるように残しておく</a:t>
            </a:r>
            <a:endParaRPr sz="1300">
              <a:solidFill>
                <a:schemeClr val="dk1"/>
              </a:solidFill>
            </a:endParaRPr>
          </a:p>
          <a:p>
            <a:pPr indent="-311150" lvl="1" marL="914400" rtl="0" algn="l">
              <a:spcBef>
                <a:spcPts val="0"/>
              </a:spcBef>
              <a:spcAft>
                <a:spcPts val="0"/>
              </a:spcAft>
              <a:buClr>
                <a:schemeClr val="dk1"/>
              </a:buClr>
              <a:buSzPts val="1300"/>
              <a:buChar char="○"/>
            </a:pPr>
            <a:r>
              <a:rPr lang="ja" sz="1300">
                <a:solidFill>
                  <a:schemeClr val="dk1"/>
                </a:solidFill>
              </a:rPr>
              <a:t>思考を見直せるようにする</a:t>
            </a:r>
            <a:endParaRPr sz="1300">
              <a:solidFill>
                <a:schemeClr val="dk1"/>
              </a:solidFill>
            </a:endParaRPr>
          </a:p>
          <a:p>
            <a:pPr indent="-311150" lvl="0" marL="457200" rtl="0" algn="l">
              <a:spcBef>
                <a:spcPts val="0"/>
              </a:spcBef>
              <a:spcAft>
                <a:spcPts val="0"/>
              </a:spcAft>
              <a:buClr>
                <a:schemeClr val="dk1"/>
              </a:buClr>
              <a:buSzPts val="1300"/>
              <a:buChar char="●"/>
            </a:pPr>
            <a:r>
              <a:rPr lang="ja" sz="1300">
                <a:solidFill>
                  <a:schemeClr val="dk1"/>
                </a:solidFill>
              </a:rPr>
              <a:t>ゲームをしながら、手元にメモを用意してもらう</a:t>
            </a:r>
            <a:endParaRPr sz="1300">
              <a:solidFill>
                <a:schemeClr val="dk1"/>
              </a:solidFill>
            </a:endParaRPr>
          </a:p>
          <a:p>
            <a:pPr indent="-311150" lvl="1" marL="914400" rtl="0" algn="l">
              <a:spcBef>
                <a:spcPts val="0"/>
              </a:spcBef>
              <a:spcAft>
                <a:spcPts val="0"/>
              </a:spcAft>
              <a:buClr>
                <a:schemeClr val="dk1"/>
              </a:buClr>
              <a:buSzPts val="1300"/>
              <a:buChar char="○"/>
            </a:pPr>
            <a:r>
              <a:rPr lang="ja" sz="1300">
                <a:solidFill>
                  <a:schemeClr val="dk1"/>
                </a:solidFill>
              </a:rPr>
              <a:t>紙に書きながらゲームをする。</a:t>
            </a:r>
            <a:endParaRPr sz="1300">
              <a:solidFill>
                <a:schemeClr val="dk1"/>
              </a:solidFill>
            </a:endParaRPr>
          </a:p>
          <a:p>
            <a:pPr indent="-311150" lvl="0" marL="457200" rtl="0" algn="l">
              <a:spcBef>
                <a:spcPts val="0"/>
              </a:spcBef>
              <a:spcAft>
                <a:spcPts val="0"/>
              </a:spcAft>
              <a:buClr>
                <a:schemeClr val="dk1"/>
              </a:buClr>
              <a:buSzPts val="1300"/>
              <a:buChar char="●"/>
            </a:pPr>
            <a:r>
              <a:rPr lang="ja" sz="1300">
                <a:solidFill>
                  <a:schemeClr val="dk1"/>
                </a:solidFill>
              </a:rPr>
              <a:t>直感だけでまず答えてもらう</a:t>
            </a:r>
            <a:endParaRPr sz="1300">
              <a:solidFill>
                <a:schemeClr val="dk1"/>
              </a:solidFill>
            </a:endParaRPr>
          </a:p>
          <a:p>
            <a:pPr indent="-311150" lvl="1" marL="914400" rtl="0" algn="l">
              <a:spcBef>
                <a:spcPts val="0"/>
              </a:spcBef>
              <a:spcAft>
                <a:spcPts val="0"/>
              </a:spcAft>
              <a:buClr>
                <a:schemeClr val="dk1"/>
              </a:buClr>
              <a:buSzPts val="1300"/>
              <a:buChar char="○"/>
            </a:pPr>
            <a:r>
              <a:rPr lang="ja" sz="1300">
                <a:solidFill>
                  <a:schemeClr val="dk1"/>
                </a:solidFill>
              </a:rPr>
              <a:t>仮説を立てる練習</a:t>
            </a:r>
            <a:endParaRPr sz="1300">
              <a:solidFill>
                <a:schemeClr val="dk1"/>
              </a:solidFill>
            </a:endParaRPr>
          </a:p>
          <a:p>
            <a:pPr indent="0" lvl="0" marL="0" rtl="0" algn="l">
              <a:spcBef>
                <a:spcPts val="1200"/>
              </a:spcBef>
              <a:spcAft>
                <a:spcPts val="0"/>
              </a:spcAft>
              <a:buNone/>
            </a:pPr>
            <a:r>
              <a:rPr lang="ja" sz="1300">
                <a:solidFill>
                  <a:schemeClr val="dk1"/>
                </a:solidFill>
              </a:rPr>
              <a:t>プレイヤーが操作をして、動かしながら違いや特徴を考察し、一般化を助ける</a:t>
            </a:r>
            <a:endParaRPr sz="1300">
              <a:solidFill>
                <a:schemeClr val="dk1"/>
              </a:solidFill>
            </a:endParaRPr>
          </a:p>
          <a:p>
            <a:pPr indent="0" lvl="0" marL="0" rtl="0" algn="l">
              <a:spcBef>
                <a:spcPts val="1200"/>
              </a:spcBef>
              <a:spcAft>
                <a:spcPts val="0"/>
              </a:spcAft>
              <a:buNone/>
            </a:pPr>
            <a:r>
              <a:t/>
            </a:r>
            <a:endParaRPr/>
          </a:p>
        </p:txBody>
      </p:sp>
      <p:pic>
        <p:nvPicPr>
          <p:cNvPr id="150" name="Google Shape;150;p33"/>
          <p:cNvPicPr preferRelativeResize="0"/>
          <p:nvPr/>
        </p:nvPicPr>
        <p:blipFill>
          <a:blip r:embed="rId3">
            <a:alphaModFix/>
          </a:blip>
          <a:stretch>
            <a:fillRect/>
          </a:stretch>
        </p:blipFill>
        <p:spPr>
          <a:xfrm>
            <a:off x="4094697" y="1014600"/>
            <a:ext cx="5007051" cy="36921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方法</a:t>
            </a:r>
            <a:endParaRPr/>
          </a:p>
        </p:txBody>
      </p:sp>
      <p:sp>
        <p:nvSpPr>
          <p:cNvPr id="156" name="Google Shape;156;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ja"/>
              <a:t>算数における「活用」とは？</a:t>
            </a:r>
            <a:endParaRPr/>
          </a:p>
          <a:p>
            <a:pPr indent="-317500" lvl="1" marL="914400" rtl="0" algn="l">
              <a:lnSpc>
                <a:spcPct val="115000"/>
              </a:lnSpc>
              <a:spcBef>
                <a:spcPts val="0"/>
              </a:spcBef>
              <a:spcAft>
                <a:spcPts val="0"/>
              </a:spcAft>
              <a:buSzPts val="1400"/>
              <a:buChar char="○"/>
            </a:pPr>
            <a:r>
              <a:rPr lang="ja"/>
              <a:t>◎算数科の目標の一部の、筋道を立てて考え、表現する能力の育成のためには、おのずと「活用」を取り入れた授業が求められる。今の指導方法や教科書の利用の仕方を少し工夫するだけで、このような授業は可能となる</a:t>
            </a:r>
            <a:endParaRPr/>
          </a:p>
          <a:p>
            <a:pPr indent="-342900" lvl="0" marL="457200" rtl="0" algn="l">
              <a:lnSpc>
                <a:spcPct val="115000"/>
              </a:lnSpc>
              <a:spcBef>
                <a:spcPts val="0"/>
              </a:spcBef>
              <a:spcAft>
                <a:spcPts val="0"/>
              </a:spcAft>
              <a:buSzPts val="1800"/>
              <a:buChar char="●"/>
            </a:pPr>
            <a:r>
              <a:rPr lang="ja"/>
              <a:t>「習得」が十分でなければ「活用」は出来ない？</a:t>
            </a:r>
            <a:endParaRPr/>
          </a:p>
          <a:p>
            <a:pPr indent="-317500" lvl="1" marL="914400" rtl="0" algn="l">
              <a:lnSpc>
                <a:spcPct val="115000"/>
              </a:lnSpc>
              <a:spcBef>
                <a:spcPts val="0"/>
              </a:spcBef>
              <a:spcAft>
                <a:spcPts val="0"/>
              </a:spcAft>
              <a:buSzPts val="1400"/>
              <a:buChar char="○"/>
            </a:pPr>
            <a:r>
              <a:rPr lang="ja"/>
              <a:t>◎「活用」は基礎・基本の「習得」がなければ出来ないものではない。活用の過程でより確かな習得が図れるなど、両者は連携している</a:t>
            </a:r>
            <a:endParaRPr/>
          </a:p>
          <a:p>
            <a:pPr indent="-342900" lvl="0" marL="457200" rtl="0" algn="l">
              <a:lnSpc>
                <a:spcPct val="115000"/>
              </a:lnSpc>
              <a:spcBef>
                <a:spcPts val="0"/>
              </a:spcBef>
              <a:spcAft>
                <a:spcPts val="0"/>
              </a:spcAft>
              <a:buSzPts val="1800"/>
              <a:buChar char="●"/>
            </a:pPr>
            <a:r>
              <a:rPr lang="ja"/>
              <a:t>「活用」を取り入れる効果と授業づくりの観点は？</a:t>
            </a:r>
            <a:endParaRPr/>
          </a:p>
          <a:p>
            <a:pPr indent="-317500" lvl="1" marL="914400" rtl="0" algn="l">
              <a:lnSpc>
                <a:spcPct val="115000"/>
              </a:lnSpc>
              <a:spcBef>
                <a:spcPts val="0"/>
              </a:spcBef>
              <a:spcAft>
                <a:spcPts val="0"/>
              </a:spcAft>
              <a:buSzPts val="1400"/>
              <a:buChar char="○"/>
            </a:pPr>
            <a:r>
              <a:rPr lang="ja"/>
              <a:t>◎「活用」自体を目的にせず、「どのような子どもを育てるか」という観点から授業を組み立てることが必要。このような授業により、主体的に学ぶ子どもが育つだけでなく、結果的に授業時間の短縮にもつながる</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方法</a:t>
            </a:r>
            <a:endParaRPr/>
          </a:p>
        </p:txBody>
      </p:sp>
      <p:sp>
        <p:nvSpPr>
          <p:cNvPr id="162" name="Google Shape;162;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lang="ja"/>
              <a:t>小学5年算数科「単位量あたりの大きさ」の学習で行う単位表記の指導（例：人口密度「1km²あたり○人住んでいる」、燃費「1Lあたり○km走る」など）は、中学校生徒の理科で学習する単位表記の理解に支障をきたしている。</a:t>
            </a:r>
            <a:endParaRPr/>
          </a:p>
          <a:p>
            <a:pPr indent="-298450" lvl="0" marL="457200" rtl="0" algn="l">
              <a:spcBef>
                <a:spcPts val="0"/>
              </a:spcBef>
              <a:spcAft>
                <a:spcPts val="0"/>
              </a:spcAft>
              <a:buClr>
                <a:schemeClr val="dk1"/>
              </a:buClr>
              <a:buSzPts val="1100"/>
              <a:buChar char="●"/>
            </a:pPr>
            <a:r>
              <a:rPr lang="ja"/>
              <a:t>小学5年算数科「単位量あたりの大きさ」で学習する単位表記を、理科の単位表記（例：人口密度「○/km²」、燃費「○km/L」など）で学べば、子ども達の理科で用いる単位表記の理解が容易になる。</a:t>
            </a:r>
            <a:endParaRPr/>
          </a:p>
          <a:p>
            <a:pPr indent="457200" lvl="0" marL="457200" rtl="0" algn="l">
              <a:spcBef>
                <a:spcPts val="1200"/>
              </a:spcBef>
              <a:spcAft>
                <a:spcPts val="0"/>
              </a:spcAft>
              <a:buNone/>
            </a:pPr>
            <a:r>
              <a:rPr lang="ja"/>
              <a:t>↓↓↓</a:t>
            </a:r>
            <a:endParaRPr/>
          </a:p>
          <a:p>
            <a:pPr indent="0" lvl="0" marL="0" rtl="0" algn="l">
              <a:spcBef>
                <a:spcPts val="0"/>
              </a:spcBef>
              <a:spcAft>
                <a:spcPts val="0"/>
              </a:spcAft>
              <a:buNone/>
            </a:pPr>
            <a:r>
              <a:rPr lang="ja"/>
              <a:t>そのため、ゲーム内では単位表記もあわせて学習する</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メリット</a:t>
            </a:r>
            <a:endParaRPr/>
          </a:p>
        </p:txBody>
      </p:sp>
      <p:sp>
        <p:nvSpPr>
          <p:cNvPr id="168" name="Google Shape;168;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ja"/>
              <a:t>「予想してから検証」の展開が子どもの意欲を引き出す</a:t>
            </a:r>
            <a:endParaRPr/>
          </a:p>
          <a:p>
            <a:pPr indent="-317500" lvl="1" marL="914400" rtl="0" algn="l">
              <a:lnSpc>
                <a:spcPct val="150000"/>
              </a:lnSpc>
              <a:spcBef>
                <a:spcPts val="0"/>
              </a:spcBef>
              <a:spcAft>
                <a:spcPts val="0"/>
              </a:spcAft>
              <a:buSzPts val="1400"/>
              <a:buChar char="○"/>
            </a:pPr>
            <a:r>
              <a:rPr lang="ja"/>
              <a:t>仮説を立てさせる</a:t>
            </a:r>
            <a:endParaRPr/>
          </a:p>
          <a:p>
            <a:pPr indent="-317500" lvl="1" marL="914400" rtl="0" algn="l">
              <a:lnSpc>
                <a:spcPct val="150000"/>
              </a:lnSpc>
              <a:spcBef>
                <a:spcPts val="0"/>
              </a:spcBef>
              <a:spcAft>
                <a:spcPts val="0"/>
              </a:spcAft>
              <a:buSzPts val="1400"/>
              <a:buChar char="○"/>
            </a:pPr>
            <a:r>
              <a:rPr lang="ja"/>
              <a:t>試行錯誤をさせる</a:t>
            </a:r>
            <a:endParaRPr/>
          </a:p>
          <a:p>
            <a:pPr indent="-342900" lvl="0" marL="457200" rtl="0" algn="l">
              <a:lnSpc>
                <a:spcPct val="150000"/>
              </a:lnSpc>
              <a:spcBef>
                <a:spcPts val="0"/>
              </a:spcBef>
              <a:spcAft>
                <a:spcPts val="0"/>
              </a:spcAft>
              <a:buSzPts val="1800"/>
              <a:buChar char="●"/>
            </a:pPr>
            <a:r>
              <a:rPr lang="ja"/>
              <a:t>活用（応用）も同時に学ぶことができる</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7"/>
          <p:cNvSpPr/>
          <p:nvPr/>
        </p:nvSpPr>
        <p:spPr>
          <a:xfrm rot="-5400000">
            <a:off x="2960300" y="1009850"/>
            <a:ext cx="2941200" cy="4071600"/>
          </a:xfrm>
          <a:prstGeom prst="arc">
            <a:avLst>
              <a:gd fmla="val 18397579" name="adj1"/>
              <a:gd fmla="val 3245067" name="adj2"/>
            </a:avLst>
          </a:prstGeom>
          <a:noFill/>
          <a:ln cap="flat" cmpd="sng" w="28575">
            <a:solidFill>
              <a:srgbClr val="595959"/>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37"/>
          <p:cNvSpPr txBox="1"/>
          <p:nvPr/>
        </p:nvSpPr>
        <p:spPr>
          <a:xfrm>
            <a:off x="237775" y="188225"/>
            <a:ext cx="320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rgbClr val="595959"/>
                </a:solidFill>
              </a:rPr>
              <a:t>研究フィールドマップ</a:t>
            </a:r>
            <a:endParaRPr sz="1800">
              <a:solidFill>
                <a:srgbClr val="595959"/>
              </a:solidFill>
            </a:endParaRPr>
          </a:p>
        </p:txBody>
      </p:sp>
      <p:sp>
        <p:nvSpPr>
          <p:cNvPr id="175" name="Google Shape;175;p37"/>
          <p:cNvSpPr/>
          <p:nvPr/>
        </p:nvSpPr>
        <p:spPr>
          <a:xfrm>
            <a:off x="4272350" y="2090350"/>
            <a:ext cx="317100" cy="2080500"/>
          </a:xfrm>
          <a:prstGeom prst="upArrow">
            <a:avLst>
              <a:gd fmla="val 50000" name="adj1"/>
              <a:gd fmla="val 50000" name="adj2"/>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37"/>
          <p:cNvSpPr/>
          <p:nvPr/>
        </p:nvSpPr>
        <p:spPr>
          <a:xfrm>
            <a:off x="3982550" y="4061775"/>
            <a:ext cx="896700" cy="896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現状</a:t>
            </a:r>
            <a:endParaRPr/>
          </a:p>
        </p:txBody>
      </p:sp>
      <p:sp>
        <p:nvSpPr>
          <p:cNvPr id="177" name="Google Shape;177;p37"/>
          <p:cNvSpPr/>
          <p:nvPr/>
        </p:nvSpPr>
        <p:spPr>
          <a:xfrm>
            <a:off x="3559100" y="3081050"/>
            <a:ext cx="1743600" cy="594300"/>
          </a:xfrm>
          <a:prstGeom prst="snip2SameRect">
            <a:avLst>
              <a:gd fmla="val 16667" name="adj1"/>
              <a:gd fmla="val 0" name="adj2"/>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問題</a:t>
            </a:r>
            <a:endParaRPr/>
          </a:p>
        </p:txBody>
      </p:sp>
      <p:sp>
        <p:nvSpPr>
          <p:cNvPr id="178" name="Google Shape;178;p37"/>
          <p:cNvSpPr/>
          <p:nvPr/>
        </p:nvSpPr>
        <p:spPr>
          <a:xfrm>
            <a:off x="3982550" y="1193650"/>
            <a:ext cx="896700" cy="896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課題</a:t>
            </a:r>
            <a:endParaRPr/>
          </a:p>
        </p:txBody>
      </p:sp>
      <p:sp>
        <p:nvSpPr>
          <p:cNvPr id="179" name="Google Shape;179;p37"/>
          <p:cNvSpPr/>
          <p:nvPr/>
        </p:nvSpPr>
        <p:spPr>
          <a:xfrm rot="-5400000">
            <a:off x="2960300" y="84725"/>
            <a:ext cx="2941200" cy="4071600"/>
          </a:xfrm>
          <a:prstGeom prst="arc">
            <a:avLst>
              <a:gd fmla="val 18397579" name="adj1"/>
              <a:gd fmla="val 3245067" name="adj2"/>
            </a:avLst>
          </a:prstGeom>
          <a:noFill/>
          <a:ln cap="flat" cmpd="sng" w="28575">
            <a:solidFill>
              <a:srgbClr val="595959"/>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37"/>
          <p:cNvSpPr txBox="1"/>
          <p:nvPr/>
        </p:nvSpPr>
        <p:spPr>
          <a:xfrm>
            <a:off x="1401475" y="1889675"/>
            <a:ext cx="1570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rgbClr val="595959"/>
                </a:solidFill>
              </a:rPr>
              <a:t>現実的な未来</a:t>
            </a:r>
            <a:endParaRPr sz="1800">
              <a:solidFill>
                <a:srgbClr val="595959"/>
              </a:solidFill>
            </a:endParaRPr>
          </a:p>
        </p:txBody>
      </p:sp>
      <p:sp>
        <p:nvSpPr>
          <p:cNvPr id="181" name="Google Shape;181;p37"/>
          <p:cNvSpPr txBox="1"/>
          <p:nvPr/>
        </p:nvSpPr>
        <p:spPr>
          <a:xfrm>
            <a:off x="2184175" y="881638"/>
            <a:ext cx="787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rgbClr val="595959"/>
                </a:solidFill>
              </a:rPr>
              <a:t>理想</a:t>
            </a:r>
            <a:endParaRPr sz="1800">
              <a:solidFill>
                <a:srgbClr val="595959"/>
              </a:solidFill>
            </a:endParaRPr>
          </a:p>
        </p:txBody>
      </p:sp>
      <p:sp>
        <p:nvSpPr>
          <p:cNvPr id="182" name="Google Shape;182;p37"/>
          <p:cNvSpPr txBox="1"/>
          <p:nvPr/>
        </p:nvSpPr>
        <p:spPr>
          <a:xfrm>
            <a:off x="386400" y="727750"/>
            <a:ext cx="1842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a:solidFill>
                  <a:srgbClr val="4285F4"/>
                </a:solidFill>
              </a:rPr>
              <a:t>ルール2</a:t>
            </a:r>
            <a:endParaRPr b="1">
              <a:solidFill>
                <a:srgbClr val="4285F4"/>
              </a:solidFill>
            </a:endParaRPr>
          </a:p>
          <a:p>
            <a:pPr indent="0" lvl="0" marL="0" rtl="0" algn="l">
              <a:spcBef>
                <a:spcPts val="0"/>
              </a:spcBef>
              <a:spcAft>
                <a:spcPts val="0"/>
              </a:spcAft>
              <a:buNone/>
            </a:pPr>
            <a:r>
              <a:rPr lang="ja">
                <a:solidFill>
                  <a:srgbClr val="4285F4"/>
                </a:solidFill>
              </a:rPr>
              <a:t>納得させやすいこと</a:t>
            </a:r>
            <a:endParaRPr>
              <a:solidFill>
                <a:srgbClr val="4285F4"/>
              </a:solidFill>
            </a:endParaRPr>
          </a:p>
        </p:txBody>
      </p:sp>
      <p:sp>
        <p:nvSpPr>
          <p:cNvPr id="183" name="Google Shape;183;p37"/>
          <p:cNvSpPr txBox="1"/>
          <p:nvPr/>
        </p:nvSpPr>
        <p:spPr>
          <a:xfrm>
            <a:off x="386400" y="1395300"/>
            <a:ext cx="2179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a:solidFill>
                  <a:srgbClr val="4285F4"/>
                </a:solidFill>
              </a:rPr>
              <a:t>ルール3</a:t>
            </a:r>
            <a:endParaRPr b="1">
              <a:solidFill>
                <a:srgbClr val="4285F4"/>
              </a:solidFill>
            </a:endParaRPr>
          </a:p>
          <a:p>
            <a:pPr indent="0" lvl="0" marL="0" rtl="0" algn="l">
              <a:spcBef>
                <a:spcPts val="0"/>
              </a:spcBef>
              <a:spcAft>
                <a:spcPts val="0"/>
              </a:spcAft>
              <a:buNone/>
            </a:pPr>
            <a:r>
              <a:rPr lang="ja">
                <a:solidFill>
                  <a:srgbClr val="4285F4"/>
                </a:solidFill>
              </a:rPr>
              <a:t>現状より理想に近いこと</a:t>
            </a:r>
            <a:endParaRPr>
              <a:solidFill>
                <a:srgbClr val="4285F4"/>
              </a:solidFill>
            </a:endParaRPr>
          </a:p>
        </p:txBody>
      </p:sp>
      <p:sp>
        <p:nvSpPr>
          <p:cNvPr id="184" name="Google Shape;184;p37"/>
          <p:cNvSpPr txBox="1"/>
          <p:nvPr/>
        </p:nvSpPr>
        <p:spPr>
          <a:xfrm>
            <a:off x="1488325" y="4202325"/>
            <a:ext cx="2395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a:solidFill>
                  <a:srgbClr val="4285F4"/>
                </a:solidFill>
              </a:rPr>
              <a:t>ルール1</a:t>
            </a:r>
            <a:endParaRPr b="1">
              <a:solidFill>
                <a:srgbClr val="4285F4"/>
              </a:solidFill>
            </a:endParaRPr>
          </a:p>
          <a:p>
            <a:pPr indent="0" lvl="0" marL="0" rtl="0" algn="l">
              <a:spcBef>
                <a:spcPts val="0"/>
              </a:spcBef>
              <a:spcAft>
                <a:spcPts val="0"/>
              </a:spcAft>
              <a:buNone/>
            </a:pPr>
            <a:r>
              <a:rPr lang="ja">
                <a:solidFill>
                  <a:srgbClr val="4285F4"/>
                </a:solidFill>
              </a:rPr>
              <a:t>同意してもらいやすいこと</a:t>
            </a:r>
            <a:endParaRPr>
              <a:solidFill>
                <a:srgbClr val="4285F4"/>
              </a:solidFill>
            </a:endParaRPr>
          </a:p>
        </p:txBody>
      </p:sp>
      <p:sp>
        <p:nvSpPr>
          <p:cNvPr id="185" name="Google Shape;185;p37"/>
          <p:cNvSpPr txBox="1"/>
          <p:nvPr/>
        </p:nvSpPr>
        <p:spPr>
          <a:xfrm>
            <a:off x="5078400" y="3675350"/>
            <a:ext cx="3203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a:solidFill>
                  <a:srgbClr val="4285F4"/>
                </a:solidFill>
              </a:rPr>
              <a:t>ルール6</a:t>
            </a:r>
            <a:endParaRPr b="1">
              <a:solidFill>
                <a:srgbClr val="4285F4"/>
              </a:solidFill>
            </a:endParaRPr>
          </a:p>
          <a:p>
            <a:pPr indent="0" lvl="0" marL="0" rtl="0" algn="l">
              <a:spcBef>
                <a:spcPts val="0"/>
              </a:spcBef>
              <a:spcAft>
                <a:spcPts val="0"/>
              </a:spcAft>
              <a:buNone/>
            </a:pPr>
            <a:r>
              <a:rPr lang="ja">
                <a:solidFill>
                  <a:srgbClr val="4285F4"/>
                </a:solidFill>
              </a:rPr>
              <a:t>解決が困難な理由を説明できること</a:t>
            </a:r>
            <a:endParaRPr>
              <a:solidFill>
                <a:srgbClr val="4285F4"/>
              </a:solidFill>
            </a:endParaRPr>
          </a:p>
        </p:txBody>
      </p:sp>
      <p:sp>
        <p:nvSpPr>
          <p:cNvPr id="186" name="Google Shape;186;p37"/>
          <p:cNvSpPr txBox="1"/>
          <p:nvPr/>
        </p:nvSpPr>
        <p:spPr>
          <a:xfrm>
            <a:off x="5078400" y="2465450"/>
            <a:ext cx="3203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a:solidFill>
                  <a:srgbClr val="4285F4"/>
                </a:solidFill>
              </a:rPr>
              <a:t>ルール5</a:t>
            </a:r>
            <a:endParaRPr b="1">
              <a:solidFill>
                <a:srgbClr val="4285F4"/>
              </a:solidFill>
            </a:endParaRPr>
          </a:p>
          <a:p>
            <a:pPr indent="0" lvl="0" marL="0" rtl="0" algn="l">
              <a:spcBef>
                <a:spcPts val="0"/>
              </a:spcBef>
              <a:spcAft>
                <a:spcPts val="0"/>
              </a:spcAft>
              <a:buNone/>
            </a:pPr>
            <a:r>
              <a:rPr lang="ja">
                <a:solidFill>
                  <a:srgbClr val="4285F4"/>
                </a:solidFill>
              </a:rPr>
              <a:t>課題達成を難しくしていること</a:t>
            </a:r>
            <a:endParaRPr>
              <a:solidFill>
                <a:srgbClr val="4285F4"/>
              </a:solidFill>
            </a:endParaRPr>
          </a:p>
        </p:txBody>
      </p:sp>
      <p:sp>
        <p:nvSpPr>
          <p:cNvPr id="187" name="Google Shape;187;p37"/>
          <p:cNvSpPr txBox="1"/>
          <p:nvPr/>
        </p:nvSpPr>
        <p:spPr>
          <a:xfrm>
            <a:off x="4879250" y="1012950"/>
            <a:ext cx="3203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a:solidFill>
                  <a:srgbClr val="4285F4"/>
                </a:solidFill>
              </a:rPr>
              <a:t>ルール4</a:t>
            </a:r>
            <a:endParaRPr b="1">
              <a:solidFill>
                <a:srgbClr val="4285F4"/>
              </a:solidFill>
            </a:endParaRPr>
          </a:p>
          <a:p>
            <a:pPr indent="0" lvl="0" marL="0" rtl="0" algn="l">
              <a:spcBef>
                <a:spcPts val="0"/>
              </a:spcBef>
              <a:spcAft>
                <a:spcPts val="0"/>
              </a:spcAft>
              <a:buNone/>
            </a:pPr>
            <a:r>
              <a:rPr lang="ja">
                <a:solidFill>
                  <a:srgbClr val="4285F4"/>
                </a:solidFill>
              </a:rPr>
              <a:t>期限内の達成が見込めること</a:t>
            </a:r>
            <a:endParaRPr>
              <a:solidFill>
                <a:srgbClr val="4285F4"/>
              </a:solidFill>
            </a:endParaRPr>
          </a:p>
        </p:txBody>
      </p:sp>
      <p:sp>
        <p:nvSpPr>
          <p:cNvPr id="188" name="Google Shape;188;p37"/>
          <p:cNvSpPr txBox="1"/>
          <p:nvPr/>
        </p:nvSpPr>
        <p:spPr>
          <a:xfrm>
            <a:off x="982775" y="2351375"/>
            <a:ext cx="2527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ja" sz="1100">
                <a:solidFill>
                  <a:srgbClr val="595959"/>
                </a:solidFill>
              </a:rPr>
              <a:t>割り算の意味理解を助ける</a:t>
            </a:r>
            <a:endParaRPr i="1" sz="1100">
              <a:solidFill>
                <a:srgbClr val="595959"/>
              </a:solidFill>
            </a:endParaRPr>
          </a:p>
        </p:txBody>
      </p:sp>
      <p:sp>
        <p:nvSpPr>
          <p:cNvPr id="189" name="Google Shape;189;p37"/>
          <p:cNvSpPr txBox="1"/>
          <p:nvPr/>
        </p:nvSpPr>
        <p:spPr>
          <a:xfrm>
            <a:off x="922825" y="3116600"/>
            <a:ext cx="25278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ja" sz="1100">
                <a:solidFill>
                  <a:srgbClr val="595959"/>
                </a:solidFill>
              </a:rPr>
              <a:t>計算はできるが、式を立てられない</a:t>
            </a:r>
            <a:endParaRPr i="1" sz="1100">
              <a:solidFill>
                <a:srgbClr val="595959"/>
              </a:solidFill>
            </a:endParaRPr>
          </a:p>
          <a:p>
            <a:pPr indent="0" lvl="0" marL="0" rtl="0" algn="l">
              <a:spcBef>
                <a:spcPts val="0"/>
              </a:spcBef>
              <a:spcAft>
                <a:spcPts val="0"/>
              </a:spcAft>
              <a:buNone/>
            </a:pPr>
            <a:r>
              <a:rPr i="1" lang="ja" sz="1100">
                <a:solidFill>
                  <a:srgbClr val="595959"/>
                </a:solidFill>
              </a:rPr>
              <a:t>式の意味がわからない</a:t>
            </a:r>
            <a:endParaRPr i="1" sz="1100">
              <a:solidFill>
                <a:srgbClr val="595959"/>
              </a:solidFill>
            </a:endParaRPr>
          </a:p>
        </p:txBody>
      </p:sp>
      <p:sp>
        <p:nvSpPr>
          <p:cNvPr id="190" name="Google Shape;190;p37"/>
          <p:cNvSpPr txBox="1"/>
          <p:nvPr/>
        </p:nvSpPr>
        <p:spPr>
          <a:xfrm>
            <a:off x="4978275" y="4294725"/>
            <a:ext cx="2527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ja" sz="1100">
                <a:solidFill>
                  <a:srgbClr val="595959"/>
                </a:solidFill>
              </a:rPr>
              <a:t>割合の問題を苦手な小学生が多い</a:t>
            </a:r>
            <a:endParaRPr i="1" sz="1100">
              <a:solidFill>
                <a:srgbClr val="595959"/>
              </a:solidFill>
            </a:endParaRPr>
          </a:p>
        </p:txBody>
      </p:sp>
      <p:sp>
        <p:nvSpPr>
          <p:cNvPr id="191" name="Google Shape;191;p37"/>
          <p:cNvSpPr txBox="1"/>
          <p:nvPr/>
        </p:nvSpPr>
        <p:spPr>
          <a:xfrm>
            <a:off x="4756675" y="1943525"/>
            <a:ext cx="25278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ja" sz="1100">
                <a:solidFill>
                  <a:srgbClr val="595959"/>
                </a:solidFill>
              </a:rPr>
              <a:t>割り算の意味を理解している</a:t>
            </a:r>
            <a:endParaRPr i="1" sz="1100">
              <a:solidFill>
                <a:srgbClr val="595959"/>
              </a:solidFill>
            </a:endParaRPr>
          </a:p>
          <a:p>
            <a:pPr indent="0" lvl="0" marL="0" rtl="0" algn="l">
              <a:spcBef>
                <a:spcPts val="0"/>
              </a:spcBef>
              <a:spcAft>
                <a:spcPts val="0"/>
              </a:spcAft>
              <a:buNone/>
            </a:pPr>
            <a:r>
              <a:rPr i="1" lang="ja" sz="1100">
                <a:solidFill>
                  <a:srgbClr val="595959"/>
                </a:solidFill>
              </a:rPr>
              <a:t>文章問題から式を立てられる</a:t>
            </a:r>
            <a:endParaRPr i="1" sz="1100">
              <a:solidFill>
                <a:srgbClr val="595959"/>
              </a:solidFill>
            </a:endParaRPr>
          </a:p>
        </p:txBody>
      </p:sp>
      <p:sp>
        <p:nvSpPr>
          <p:cNvPr id="192" name="Google Shape;192;p37"/>
          <p:cNvSpPr txBox="1"/>
          <p:nvPr/>
        </p:nvSpPr>
        <p:spPr>
          <a:xfrm>
            <a:off x="3650700" y="211700"/>
            <a:ext cx="2260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ja" sz="1100">
                <a:solidFill>
                  <a:srgbClr val="595959"/>
                </a:solidFill>
              </a:rPr>
              <a:t>割合の問題を理解している</a:t>
            </a:r>
            <a:endParaRPr i="1" sz="1100">
              <a:solidFill>
                <a:srgbClr val="59595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アプローチ（仮）</a:t>
            </a:r>
            <a:endParaRPr/>
          </a:p>
        </p:txBody>
      </p:sp>
      <p:sp>
        <p:nvSpPr>
          <p:cNvPr id="198" name="Google Shape;198;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lang="ja"/>
              <a:t>試行錯誤をさせる</a:t>
            </a:r>
            <a:endParaRPr/>
          </a:p>
          <a:p>
            <a:pPr indent="-298450" lvl="1" marL="914400" rtl="0" algn="l">
              <a:spcBef>
                <a:spcPts val="0"/>
              </a:spcBef>
              <a:spcAft>
                <a:spcPts val="0"/>
              </a:spcAft>
              <a:buClr>
                <a:schemeClr val="dk1"/>
              </a:buClr>
              <a:buSzPts val="1100"/>
              <a:buChar char="○"/>
            </a:pPr>
            <a:r>
              <a:rPr lang="ja"/>
              <a:t>その試行錯誤をあとから見返せるように残しておく</a:t>
            </a:r>
            <a:endParaRPr/>
          </a:p>
          <a:p>
            <a:pPr indent="-298450" lvl="1" marL="914400" rtl="0" algn="l">
              <a:spcBef>
                <a:spcPts val="0"/>
              </a:spcBef>
              <a:spcAft>
                <a:spcPts val="0"/>
              </a:spcAft>
              <a:buClr>
                <a:schemeClr val="dk1"/>
              </a:buClr>
              <a:buSzPts val="1100"/>
              <a:buChar char="○"/>
            </a:pPr>
            <a:r>
              <a:rPr lang="ja"/>
              <a:t>思考を見直せるようにする</a:t>
            </a:r>
            <a:endParaRPr/>
          </a:p>
          <a:p>
            <a:pPr indent="-298450" lvl="0" marL="457200" rtl="0" algn="l">
              <a:spcBef>
                <a:spcPts val="0"/>
              </a:spcBef>
              <a:spcAft>
                <a:spcPts val="0"/>
              </a:spcAft>
              <a:buClr>
                <a:schemeClr val="dk1"/>
              </a:buClr>
              <a:buSzPts val="1100"/>
              <a:buChar char="●"/>
            </a:pPr>
            <a:r>
              <a:rPr lang="ja"/>
              <a:t>ゲームをしながら、手元にメモを用意してもらう</a:t>
            </a:r>
            <a:endParaRPr/>
          </a:p>
          <a:p>
            <a:pPr indent="-298450" lvl="1" marL="914400" rtl="0" algn="l">
              <a:spcBef>
                <a:spcPts val="0"/>
              </a:spcBef>
              <a:spcAft>
                <a:spcPts val="0"/>
              </a:spcAft>
              <a:buClr>
                <a:schemeClr val="dk1"/>
              </a:buClr>
              <a:buSzPts val="1100"/>
              <a:buChar char="○"/>
            </a:pPr>
            <a:r>
              <a:rPr lang="ja"/>
              <a:t>紙に書きながらゲームをする。</a:t>
            </a:r>
            <a:endParaRPr/>
          </a:p>
          <a:p>
            <a:pPr indent="-298450" lvl="0" marL="457200" rtl="0" algn="l">
              <a:spcBef>
                <a:spcPts val="0"/>
              </a:spcBef>
              <a:spcAft>
                <a:spcPts val="0"/>
              </a:spcAft>
              <a:buClr>
                <a:schemeClr val="dk1"/>
              </a:buClr>
              <a:buSzPts val="1100"/>
              <a:buChar char="●"/>
            </a:pPr>
            <a:r>
              <a:rPr lang="ja"/>
              <a:t>直感だけでまず答えてもらう</a:t>
            </a:r>
            <a:endParaRPr/>
          </a:p>
          <a:p>
            <a:pPr indent="-298450" lvl="1" marL="914400" rtl="0" algn="l">
              <a:spcBef>
                <a:spcPts val="0"/>
              </a:spcBef>
              <a:spcAft>
                <a:spcPts val="0"/>
              </a:spcAft>
              <a:buClr>
                <a:schemeClr val="dk1"/>
              </a:buClr>
              <a:buSzPts val="1100"/>
              <a:buChar char="○"/>
            </a:pPr>
            <a:r>
              <a:rPr lang="ja"/>
              <a:t>仮説を立てる練習</a:t>
            </a:r>
            <a:endParaRPr/>
          </a:p>
          <a:p>
            <a:pPr indent="0" lvl="0" marL="0" rtl="0" algn="l">
              <a:spcBef>
                <a:spcPts val="1200"/>
              </a:spcBef>
              <a:spcAft>
                <a:spcPts val="0"/>
              </a:spcAft>
              <a:buNone/>
            </a:pPr>
            <a:r>
              <a:rPr lang="ja"/>
              <a:t>授業の内容をゲームで再現したい</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テーマ</a:t>
            </a:r>
            <a:endParaRPr/>
          </a:p>
        </p:txBody>
      </p:sp>
      <p:sp>
        <p:nvSpPr>
          <p:cNvPr id="204" name="Google Shape;204;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文章題がわからない</a:t>
            </a:r>
            <a:endParaRPr/>
          </a:p>
          <a:p>
            <a:pPr indent="-317500" lvl="1" marL="914400" rtl="0" algn="l">
              <a:spcBef>
                <a:spcPts val="1200"/>
              </a:spcBef>
              <a:spcAft>
                <a:spcPts val="0"/>
              </a:spcAft>
              <a:buSzPts val="1400"/>
              <a:buChar char="○"/>
            </a:pPr>
            <a:r>
              <a:rPr lang="ja" sz="1800"/>
              <a:t>計算はできるが、式をつくることができない</a:t>
            </a:r>
            <a:endParaRPr sz="1800"/>
          </a:p>
          <a:p>
            <a:pPr indent="-342900" lvl="0" marL="457200" rtl="0" algn="l">
              <a:spcBef>
                <a:spcPts val="0"/>
              </a:spcBef>
              <a:spcAft>
                <a:spcPts val="0"/>
              </a:spcAft>
              <a:buSzPts val="1800"/>
              <a:buChar char="●"/>
            </a:pPr>
            <a:r>
              <a:rPr lang="ja"/>
              <a:t>「単位量あたり」</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ゲーム案</a:t>
            </a:r>
            <a:endParaRPr/>
          </a:p>
          <a:p>
            <a:pPr indent="-298450" lvl="0" marL="457200" rtl="0" algn="l">
              <a:spcBef>
                <a:spcPts val="1200"/>
              </a:spcBef>
              <a:spcAft>
                <a:spcPts val="0"/>
              </a:spcAft>
              <a:buClr>
                <a:schemeClr val="dk1"/>
              </a:buClr>
              <a:buSzPts val="1100"/>
              <a:buChar char="●"/>
            </a:pPr>
            <a:r>
              <a:rPr lang="ja"/>
              <a:t>文章題の通りの配置を自分で行い、式を立てる</a:t>
            </a:r>
            <a:endParaRPr/>
          </a:p>
          <a:p>
            <a:pPr indent="-298450" lvl="0" marL="457200" rtl="0" algn="l">
              <a:spcBef>
                <a:spcPts val="0"/>
              </a:spcBef>
              <a:spcAft>
                <a:spcPts val="0"/>
              </a:spcAft>
              <a:buClr>
                <a:schemeClr val="dk1"/>
              </a:buClr>
              <a:buSzPts val="1100"/>
              <a:buChar char="●"/>
            </a:pPr>
            <a:r>
              <a:rPr lang="ja"/>
              <a:t>トークンを自由に配置できる</a:t>
            </a:r>
            <a:endParaRPr/>
          </a:p>
          <a:p>
            <a:pPr indent="-298450" lvl="1" marL="914400" rtl="0" algn="l">
              <a:spcBef>
                <a:spcPts val="0"/>
              </a:spcBef>
              <a:spcAft>
                <a:spcPts val="0"/>
              </a:spcAft>
              <a:buClr>
                <a:schemeClr val="dk1"/>
              </a:buClr>
              <a:buSzPts val="1100"/>
              <a:buChar char="○"/>
            </a:pPr>
            <a:r>
              <a:rPr lang="ja"/>
              <a:t>文章を整理できる</a:t>
            </a:r>
            <a:endParaRPr/>
          </a:p>
          <a:p>
            <a:pPr indent="0" lvl="0" marL="0" rtl="0" algn="l">
              <a:spcBef>
                <a:spcPts val="12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参考文献</a:t>
            </a:r>
            <a:endParaRPr/>
          </a:p>
        </p:txBody>
      </p:sp>
      <p:sp>
        <p:nvSpPr>
          <p:cNvPr id="210" name="Google Shape;210;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ja"/>
              <a:t>「単位量あたりの大きさ」の概念を理解させる指導について</a:t>
            </a:r>
            <a:endParaRPr/>
          </a:p>
          <a:p>
            <a:pPr indent="-342900" lvl="0" marL="457200" rtl="0" algn="l">
              <a:lnSpc>
                <a:spcPct val="115000"/>
              </a:lnSpc>
              <a:spcBef>
                <a:spcPts val="1000"/>
              </a:spcBef>
              <a:spcAft>
                <a:spcPts val="0"/>
              </a:spcAft>
              <a:buSzPts val="1800"/>
              <a:buChar char="●"/>
            </a:pPr>
            <a:r>
              <a:rPr lang="ja"/>
              <a:t>具体的操作をもとに意味理解を深める学習展開 ~1あたり量をもとにした実践 (2年 「かけ算」)より〜</a:t>
            </a:r>
            <a:endParaRPr/>
          </a:p>
          <a:p>
            <a:pPr indent="-342900" lvl="0" marL="457200" rtl="0" algn="l">
              <a:lnSpc>
                <a:spcPct val="115000"/>
              </a:lnSpc>
              <a:spcBef>
                <a:spcPts val="1000"/>
              </a:spcBef>
              <a:spcAft>
                <a:spcPts val="1000"/>
              </a:spcAft>
              <a:buSzPts val="1800"/>
              <a:buChar char="●"/>
            </a:pPr>
            <a:r>
              <a:rPr lang="ja"/>
              <a:t>単位量あたりの大きさに関する教材開発とその実践 ~大豆運び競争を用いた実践~</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ja"/>
              <a:t>進捗</a:t>
            </a:r>
            <a:endParaRPr/>
          </a:p>
          <a:p>
            <a:pPr indent="0" lvl="0" marL="0" rtl="0" algn="ctr">
              <a:spcBef>
                <a:spcPts val="0"/>
              </a:spcBef>
              <a:spcAft>
                <a:spcPts val="0"/>
              </a:spcAft>
              <a:buNone/>
            </a:pPr>
            <a:r>
              <a:rPr lang="ja" sz="2400"/>
              <a:t>単位量あたり×ゲーム</a:t>
            </a:r>
            <a:endParaRPr sz="2400"/>
          </a:p>
        </p:txBody>
      </p:sp>
      <p:sp>
        <p:nvSpPr>
          <p:cNvPr id="216" name="Google Shape;216;p41"/>
          <p:cNvSpPr txBox="1"/>
          <p:nvPr>
            <p:ph idx="1" type="subTitle"/>
          </p:nvPr>
        </p:nvSpPr>
        <p:spPr>
          <a:xfrm>
            <a:off x="311700" y="35844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ja"/>
              <a:t>難波航星</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テーマ</a:t>
            </a:r>
            <a:endParaRPr/>
          </a:p>
        </p:txBody>
      </p:sp>
      <p:sp>
        <p:nvSpPr>
          <p:cNvPr id="222" name="Google Shape;222;p42"/>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ctr">
              <a:lnSpc>
                <a:spcPct val="200000"/>
              </a:lnSpc>
              <a:spcBef>
                <a:spcPts val="0"/>
              </a:spcBef>
              <a:spcAft>
                <a:spcPts val="0"/>
              </a:spcAft>
              <a:buNone/>
            </a:pPr>
            <a:r>
              <a:rPr lang="ja" sz="2100"/>
              <a:t>「単位量あたり」を体験的に理解できるシリアスゲームによって、</a:t>
            </a:r>
            <a:endParaRPr sz="2100"/>
          </a:p>
          <a:p>
            <a:pPr indent="0" lvl="0" marL="0" rtl="0" algn="ctr">
              <a:lnSpc>
                <a:spcPct val="200000"/>
              </a:lnSpc>
              <a:spcBef>
                <a:spcPts val="0"/>
              </a:spcBef>
              <a:spcAft>
                <a:spcPts val="0"/>
              </a:spcAft>
              <a:buNone/>
            </a:pPr>
            <a:r>
              <a:rPr lang="ja" sz="2100"/>
              <a:t>文章問題と</a:t>
            </a:r>
            <a:r>
              <a:rPr lang="ja" sz="2100"/>
              <a:t>式</a:t>
            </a:r>
            <a:r>
              <a:rPr lang="ja" sz="2100"/>
              <a:t>の関係を</a:t>
            </a:r>
            <a:r>
              <a:rPr lang="ja" sz="2100"/>
              <a:t>理解できていないというを解決し、</a:t>
            </a:r>
            <a:endParaRPr sz="2100"/>
          </a:p>
          <a:p>
            <a:pPr indent="0" lvl="0" marL="0" rtl="0" algn="ctr">
              <a:lnSpc>
                <a:spcPct val="200000"/>
              </a:lnSpc>
              <a:spcBef>
                <a:spcPts val="0"/>
              </a:spcBef>
              <a:spcAft>
                <a:spcPts val="0"/>
              </a:spcAft>
              <a:buNone/>
            </a:pPr>
            <a:r>
              <a:rPr lang="ja" sz="2100"/>
              <a:t>児童の「単位量あたり」の理解力上昇を達成することです</a:t>
            </a:r>
            <a:endParaRPr sz="2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現状</a:t>
            </a:r>
            <a:endParaRPr/>
          </a:p>
        </p:txBody>
      </p:sp>
      <p:sp>
        <p:nvSpPr>
          <p:cNvPr id="228" name="Google Shape;228;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lang="ja"/>
              <a:t>小学生高学年の算数で特に躓きやすい単元</a:t>
            </a:r>
            <a:endParaRPr/>
          </a:p>
          <a:p>
            <a:pPr indent="-330200" lvl="0" marL="457200" rtl="0" algn="l">
              <a:lnSpc>
                <a:spcPct val="115000"/>
              </a:lnSpc>
              <a:spcBef>
                <a:spcPts val="1200"/>
              </a:spcBef>
              <a:spcAft>
                <a:spcPts val="0"/>
              </a:spcAft>
              <a:buSzPts val="1600"/>
              <a:buAutoNum type="arabicPeriod"/>
            </a:pPr>
            <a:r>
              <a:rPr lang="ja" sz="1600"/>
              <a:t>割合（小5）</a:t>
            </a:r>
            <a:endParaRPr sz="1600"/>
          </a:p>
          <a:p>
            <a:pPr indent="-330200" lvl="0" marL="457200" rtl="0" algn="l">
              <a:lnSpc>
                <a:spcPct val="115000"/>
              </a:lnSpc>
              <a:spcBef>
                <a:spcPts val="0"/>
              </a:spcBef>
              <a:spcAft>
                <a:spcPts val="0"/>
              </a:spcAft>
              <a:buSzPts val="1600"/>
              <a:buAutoNum type="arabicPeriod"/>
            </a:pPr>
            <a:r>
              <a:rPr lang="ja" sz="1600"/>
              <a:t>分数の計算</a:t>
            </a:r>
            <a:endParaRPr sz="1600"/>
          </a:p>
          <a:p>
            <a:pPr indent="-330200" lvl="0" marL="457200" rtl="0" algn="l">
              <a:lnSpc>
                <a:spcPct val="115000"/>
              </a:lnSpc>
              <a:spcBef>
                <a:spcPts val="0"/>
              </a:spcBef>
              <a:spcAft>
                <a:spcPts val="0"/>
              </a:spcAft>
              <a:buSzPts val="1600"/>
              <a:buAutoNum type="arabicPeriod"/>
            </a:pPr>
            <a:r>
              <a:rPr lang="ja" sz="1600"/>
              <a:t>速さ</a:t>
            </a:r>
            <a:endParaRPr sz="1600"/>
          </a:p>
          <a:p>
            <a:pPr indent="0" lvl="0" marL="0" rtl="0" algn="l">
              <a:lnSpc>
                <a:spcPct val="115000"/>
              </a:lnSpc>
              <a:spcBef>
                <a:spcPts val="1200"/>
              </a:spcBef>
              <a:spcAft>
                <a:spcPts val="0"/>
              </a:spcAft>
              <a:buNone/>
            </a:pPr>
            <a:r>
              <a:rPr lang="ja"/>
              <a:t>単位の変換や単位あたりなども苦手</a:t>
            </a:r>
            <a:endParaRPr/>
          </a:p>
          <a:p>
            <a:pPr indent="0" lvl="0" marL="0" rtl="0" algn="l">
              <a:lnSpc>
                <a:spcPct val="115000"/>
              </a:lnSpc>
              <a:spcBef>
                <a:spcPts val="1200"/>
              </a:spcBef>
              <a:spcAft>
                <a:spcPts val="0"/>
              </a:spcAft>
              <a:buNone/>
            </a:pPr>
            <a:r>
              <a:rPr lang="ja"/>
              <a:t>計算はできるが、式をつくることができない</a:t>
            </a:r>
            <a:endParaRPr/>
          </a:p>
        </p:txBody>
      </p:sp>
      <p:sp>
        <p:nvSpPr>
          <p:cNvPr id="229" name="Google Shape;229;p43"/>
          <p:cNvSpPr txBox="1"/>
          <p:nvPr/>
        </p:nvSpPr>
        <p:spPr>
          <a:xfrm>
            <a:off x="5532925" y="4732750"/>
            <a:ext cx="3650400" cy="4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800">
                <a:solidFill>
                  <a:schemeClr val="dk2"/>
                </a:solidFill>
              </a:rPr>
              <a:t>https://benesse.jp/kyouiku/201610/20161029-1.html，ベネッセ教育情報</a:t>
            </a:r>
            <a:endParaRPr sz="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課題、問題</a:t>
            </a:r>
            <a:endParaRPr/>
          </a:p>
        </p:txBody>
      </p:sp>
      <p:sp>
        <p:nvSpPr>
          <p:cNvPr id="235" name="Google Shape;235;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割合、</a:t>
            </a:r>
            <a:r>
              <a:rPr lang="ja"/>
              <a:t>速さ</a:t>
            </a:r>
            <a:r>
              <a:rPr lang="ja"/>
              <a:t>でつまずいている</a:t>
            </a:r>
            <a:endParaRPr/>
          </a:p>
          <a:p>
            <a:pPr indent="-342900" lvl="0" marL="457200" rtl="0" algn="l">
              <a:spcBef>
                <a:spcPts val="0"/>
              </a:spcBef>
              <a:spcAft>
                <a:spcPts val="0"/>
              </a:spcAft>
              <a:buSzPts val="1800"/>
              <a:buChar char="●"/>
            </a:pPr>
            <a:r>
              <a:rPr lang="ja"/>
              <a:t>計算はできるが、文章問題と式が結びつかない</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ja"/>
              <a:t>割合、速さの前に学ぶ単位量あたりをできていない子が多い</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ja"/>
              <a:t>ここでつまづくと、速さ（km/h）や密度（g/cm³）、濃度（g/mL）などの</a:t>
            </a:r>
            <a:endParaRPr/>
          </a:p>
          <a:p>
            <a:pPr indent="0" lvl="0" marL="457200" rtl="0" algn="l">
              <a:spcBef>
                <a:spcPts val="0"/>
              </a:spcBef>
              <a:spcAft>
                <a:spcPts val="0"/>
              </a:spcAft>
              <a:buNone/>
            </a:pPr>
            <a:r>
              <a:rPr lang="ja"/>
              <a:t>概念が理解できなくなる。</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対象</a:t>
            </a:r>
            <a:endParaRPr/>
          </a:p>
        </p:txBody>
      </p:sp>
      <p:sp>
        <p:nvSpPr>
          <p:cNvPr id="241" name="Google Shape;241;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小学5年生以降の児童</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効果測定</a:t>
            </a:r>
            <a:endParaRPr/>
          </a:p>
          <a:p>
            <a:pPr indent="-342900" lvl="0" marL="457200" rtl="0" algn="l">
              <a:spcBef>
                <a:spcPts val="0"/>
              </a:spcBef>
              <a:spcAft>
                <a:spcPts val="0"/>
              </a:spcAft>
              <a:buSzPts val="1800"/>
              <a:buAutoNum type="arabicPeriod"/>
            </a:pPr>
            <a:r>
              <a:rPr lang="ja"/>
              <a:t>児童に遊んでもらう</a:t>
            </a:r>
            <a:endParaRPr/>
          </a:p>
          <a:p>
            <a:pPr indent="-342900" lvl="0" marL="457200" rtl="0" algn="l">
              <a:spcBef>
                <a:spcPts val="0"/>
              </a:spcBef>
              <a:spcAft>
                <a:spcPts val="0"/>
              </a:spcAft>
              <a:buSzPts val="1800"/>
              <a:buAutoNum type="arabicPeriod"/>
            </a:pPr>
            <a:r>
              <a:rPr lang="ja"/>
              <a:t>先生に遊んでもらう</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単位量あたり</a:t>
            </a:r>
            <a:endParaRPr/>
          </a:p>
        </p:txBody>
      </p:sp>
      <p:sp>
        <p:nvSpPr>
          <p:cNvPr id="247" name="Google Shape;247;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① 第一用法：内包量 = 全体量 ÷ 土台量</a:t>
            </a:r>
            <a:endParaRPr/>
          </a:p>
          <a:p>
            <a:pPr indent="0" lvl="0" marL="0" rtl="0" algn="l">
              <a:spcBef>
                <a:spcPts val="0"/>
              </a:spcBef>
              <a:spcAft>
                <a:spcPts val="0"/>
              </a:spcAft>
              <a:buNone/>
            </a:pPr>
            <a:r>
              <a:rPr lang="ja"/>
              <a:t>意味：ある基準（1単位）に対して、どれだけの量があるかを求める。</a:t>
            </a:r>
            <a:endParaRPr/>
          </a:p>
          <a:p>
            <a:pPr indent="0" lvl="0" marL="0" rtl="0" algn="l">
              <a:spcBef>
                <a:spcPts val="0"/>
              </a:spcBef>
              <a:spcAft>
                <a:spcPts val="0"/>
              </a:spcAft>
              <a:buNone/>
            </a:pPr>
            <a:r>
              <a:rPr lang="ja"/>
              <a:t>例：</a:t>
            </a:r>
            <a:endParaRPr/>
          </a:p>
          <a:p>
            <a:pPr indent="0" lvl="0" marL="0" rtl="0" algn="l">
              <a:spcBef>
                <a:spcPts val="0"/>
              </a:spcBef>
              <a:spcAft>
                <a:spcPts val="0"/>
              </a:spcAft>
              <a:buNone/>
            </a:pPr>
            <a:r>
              <a:rPr lang="ja"/>
              <a:t>単価 = 値段 ÷ 個数 → 「1個あたり何円か」</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ja"/>
              <a:t>単位量あたり</a:t>
            </a:r>
            <a:endParaRPr/>
          </a:p>
        </p:txBody>
      </p:sp>
      <p:sp>
        <p:nvSpPr>
          <p:cNvPr id="253" name="Google Shape;253;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② 第二用法：全体量 = 内包量 × 土台量</a:t>
            </a:r>
            <a:endParaRPr/>
          </a:p>
          <a:p>
            <a:pPr indent="0" lvl="0" marL="0" rtl="0" algn="l">
              <a:spcBef>
                <a:spcPts val="0"/>
              </a:spcBef>
              <a:spcAft>
                <a:spcPts val="0"/>
              </a:spcAft>
              <a:buNone/>
            </a:pPr>
            <a:r>
              <a:rPr lang="ja"/>
              <a:t>意味：単位量あたりの値がわかっていて、複数の単位分の合計を求める。</a:t>
            </a:r>
            <a:endParaRPr/>
          </a:p>
          <a:p>
            <a:pPr indent="0" lvl="0" marL="0" rtl="0" algn="l">
              <a:spcBef>
                <a:spcPts val="0"/>
              </a:spcBef>
              <a:spcAft>
                <a:spcPts val="0"/>
              </a:spcAft>
              <a:buNone/>
            </a:pPr>
            <a:r>
              <a:rPr lang="ja"/>
              <a:t>例：</a:t>
            </a:r>
            <a:endParaRPr/>
          </a:p>
          <a:p>
            <a:pPr indent="0" lvl="0" marL="0" rtl="0" algn="l">
              <a:spcBef>
                <a:spcPts val="0"/>
              </a:spcBef>
              <a:spcAft>
                <a:spcPts val="0"/>
              </a:spcAft>
              <a:buNone/>
            </a:pPr>
            <a:r>
              <a:rPr lang="ja"/>
              <a:t>合計値段 = 単価 × 個数 → 「1個80円 × 5個 = 400円」</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ja"/>
              <a:t>単位量あたり</a:t>
            </a:r>
            <a:endParaRPr/>
          </a:p>
        </p:txBody>
      </p:sp>
      <p:sp>
        <p:nvSpPr>
          <p:cNvPr id="259" name="Google Shape;259;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③ 第三用法：土台量 = 全体量 ÷ 内包量</a:t>
            </a:r>
            <a:endParaRPr/>
          </a:p>
          <a:p>
            <a:pPr indent="0" lvl="0" marL="0" rtl="0" algn="l">
              <a:spcBef>
                <a:spcPts val="0"/>
              </a:spcBef>
              <a:spcAft>
                <a:spcPts val="0"/>
              </a:spcAft>
              <a:buNone/>
            </a:pPr>
            <a:r>
              <a:rPr lang="ja"/>
              <a:t>意味：合計量と単位量あたりの値から、いくつ分あるかを求める。</a:t>
            </a:r>
            <a:endParaRPr/>
          </a:p>
          <a:p>
            <a:pPr indent="0" lvl="0" marL="0" rtl="0" algn="l">
              <a:spcBef>
                <a:spcPts val="0"/>
              </a:spcBef>
              <a:spcAft>
                <a:spcPts val="0"/>
              </a:spcAft>
              <a:buNone/>
            </a:pPr>
            <a:r>
              <a:rPr lang="ja"/>
              <a:t>例：</a:t>
            </a:r>
            <a:endParaRPr/>
          </a:p>
          <a:p>
            <a:pPr indent="0" lvl="0" marL="0" rtl="0" algn="l">
              <a:spcBef>
                <a:spcPts val="0"/>
              </a:spcBef>
              <a:spcAft>
                <a:spcPts val="0"/>
              </a:spcAft>
              <a:buNone/>
            </a:pPr>
            <a:r>
              <a:rPr lang="ja"/>
              <a:t>日数 = 全体の個数 ÷ 1日あたりの消費量 → 「20個 ÷ 2個 = 10日」</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9"/>
          <p:cNvSpPr/>
          <p:nvPr/>
        </p:nvSpPr>
        <p:spPr>
          <a:xfrm>
            <a:off x="4390263" y="1240775"/>
            <a:ext cx="2181600" cy="1791600"/>
          </a:xfrm>
          <a:prstGeom prst="round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49"/>
          <p:cNvSpPr/>
          <p:nvPr/>
        </p:nvSpPr>
        <p:spPr>
          <a:xfrm>
            <a:off x="1510775" y="1240775"/>
            <a:ext cx="2181600" cy="1791600"/>
          </a:xfrm>
          <a:prstGeom prst="round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 name="Google Shape;266;p49"/>
          <p:cNvSpPr txBox="1"/>
          <p:nvPr>
            <p:ph type="title"/>
          </p:nvPr>
        </p:nvSpPr>
        <p:spPr>
          <a:xfrm>
            <a:off x="0" y="64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ゲーム画面：買い物（初級）</a:t>
            </a:r>
            <a:endParaRPr/>
          </a:p>
        </p:txBody>
      </p:sp>
      <p:sp>
        <p:nvSpPr>
          <p:cNvPr id="267" name="Google Shape;267;p49"/>
          <p:cNvSpPr/>
          <p:nvPr/>
        </p:nvSpPr>
        <p:spPr>
          <a:xfrm>
            <a:off x="1388975" y="3294550"/>
            <a:ext cx="1084800" cy="78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8" name="Google Shape;268;p49"/>
          <p:cNvPicPr preferRelativeResize="0"/>
          <p:nvPr/>
        </p:nvPicPr>
        <p:blipFill>
          <a:blip r:embed="rId3">
            <a:alphaModFix/>
          </a:blip>
          <a:stretch>
            <a:fillRect/>
          </a:stretch>
        </p:blipFill>
        <p:spPr>
          <a:xfrm>
            <a:off x="1669300" y="1170125"/>
            <a:ext cx="1913500" cy="1482950"/>
          </a:xfrm>
          <a:prstGeom prst="rect">
            <a:avLst/>
          </a:prstGeom>
          <a:noFill/>
          <a:ln>
            <a:noFill/>
          </a:ln>
        </p:spPr>
      </p:pic>
      <p:pic>
        <p:nvPicPr>
          <p:cNvPr id="269" name="Google Shape;269;p49"/>
          <p:cNvPicPr preferRelativeResize="0"/>
          <p:nvPr/>
        </p:nvPicPr>
        <p:blipFill>
          <a:blip r:embed="rId4">
            <a:alphaModFix/>
          </a:blip>
          <a:stretch>
            <a:fillRect/>
          </a:stretch>
        </p:blipFill>
        <p:spPr>
          <a:xfrm>
            <a:off x="4606588" y="1277425"/>
            <a:ext cx="1816024" cy="1375650"/>
          </a:xfrm>
          <a:prstGeom prst="rect">
            <a:avLst/>
          </a:prstGeom>
          <a:noFill/>
          <a:ln>
            <a:noFill/>
          </a:ln>
        </p:spPr>
      </p:pic>
      <p:sp>
        <p:nvSpPr>
          <p:cNvPr id="270" name="Google Shape;270;p49"/>
          <p:cNvSpPr/>
          <p:nvPr/>
        </p:nvSpPr>
        <p:spPr>
          <a:xfrm>
            <a:off x="3253750" y="3294550"/>
            <a:ext cx="1084800" cy="78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1" name="Google Shape;271;p49"/>
          <p:cNvSpPr txBox="1"/>
          <p:nvPr/>
        </p:nvSpPr>
        <p:spPr>
          <a:xfrm>
            <a:off x="2174900" y="2653075"/>
            <a:ext cx="14079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200円</a:t>
            </a:r>
            <a:endParaRPr sz="1800">
              <a:solidFill>
                <a:schemeClr val="dk2"/>
              </a:solidFill>
            </a:endParaRPr>
          </a:p>
        </p:txBody>
      </p:sp>
      <p:sp>
        <p:nvSpPr>
          <p:cNvPr id="272" name="Google Shape;272;p49"/>
          <p:cNvSpPr txBox="1"/>
          <p:nvPr/>
        </p:nvSpPr>
        <p:spPr>
          <a:xfrm>
            <a:off x="5048325" y="2571750"/>
            <a:ext cx="14079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160</a:t>
            </a:r>
            <a:r>
              <a:rPr lang="ja" sz="1800">
                <a:solidFill>
                  <a:schemeClr val="dk2"/>
                </a:solidFill>
              </a:rPr>
              <a:t>円</a:t>
            </a:r>
            <a:endParaRPr sz="1800">
              <a:solidFill>
                <a:schemeClr val="dk2"/>
              </a:solidFill>
            </a:endParaRPr>
          </a:p>
        </p:txBody>
      </p:sp>
      <p:sp>
        <p:nvSpPr>
          <p:cNvPr id="273" name="Google Shape;273;p49"/>
          <p:cNvSpPr/>
          <p:nvPr/>
        </p:nvSpPr>
        <p:spPr>
          <a:xfrm>
            <a:off x="7812175" y="564325"/>
            <a:ext cx="1164000" cy="415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4" name="Google Shape;274;p49"/>
          <p:cNvPicPr preferRelativeResize="0"/>
          <p:nvPr/>
        </p:nvPicPr>
        <p:blipFill>
          <a:blip r:embed="rId5">
            <a:alphaModFix/>
          </a:blip>
          <a:stretch>
            <a:fillRect/>
          </a:stretch>
        </p:blipFill>
        <p:spPr>
          <a:xfrm>
            <a:off x="7838263" y="637525"/>
            <a:ext cx="1111825" cy="1043200"/>
          </a:xfrm>
          <a:prstGeom prst="rect">
            <a:avLst/>
          </a:prstGeom>
          <a:noFill/>
          <a:ln>
            <a:noFill/>
          </a:ln>
        </p:spPr>
      </p:pic>
      <p:pic>
        <p:nvPicPr>
          <p:cNvPr id="275" name="Google Shape;275;p49"/>
          <p:cNvPicPr preferRelativeResize="0"/>
          <p:nvPr/>
        </p:nvPicPr>
        <p:blipFill>
          <a:blip r:embed="rId6">
            <a:alphaModFix/>
          </a:blip>
          <a:stretch>
            <a:fillRect/>
          </a:stretch>
        </p:blipFill>
        <p:spPr>
          <a:xfrm>
            <a:off x="7785649" y="1751275"/>
            <a:ext cx="1217051" cy="1217051"/>
          </a:xfrm>
          <a:prstGeom prst="rect">
            <a:avLst/>
          </a:prstGeom>
          <a:noFill/>
          <a:ln>
            <a:noFill/>
          </a:ln>
        </p:spPr>
      </p:pic>
      <p:sp>
        <p:nvSpPr>
          <p:cNvPr id="276" name="Google Shape;276;p49"/>
          <p:cNvSpPr txBox="1"/>
          <p:nvPr/>
        </p:nvSpPr>
        <p:spPr>
          <a:xfrm>
            <a:off x="2717425" y="3550475"/>
            <a:ext cx="4632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77" name="Google Shape;277;p49"/>
          <p:cNvSpPr/>
          <p:nvPr/>
        </p:nvSpPr>
        <p:spPr>
          <a:xfrm>
            <a:off x="7269775" y="2404775"/>
            <a:ext cx="463200" cy="207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49"/>
          <p:cNvSpPr txBox="1"/>
          <p:nvPr/>
        </p:nvSpPr>
        <p:spPr>
          <a:xfrm>
            <a:off x="7336825" y="2557125"/>
            <a:ext cx="341400" cy="13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2800">
                <a:solidFill>
                  <a:schemeClr val="dk2"/>
                </a:solidFill>
              </a:rPr>
              <a:t>+</a:t>
            </a:r>
            <a:endParaRPr sz="2800">
              <a:solidFill>
                <a:schemeClr val="dk2"/>
              </a:solidFill>
            </a:endParaRPr>
          </a:p>
          <a:p>
            <a:pPr indent="0" lvl="0" marL="0" rtl="0" algn="l">
              <a:spcBef>
                <a:spcPts val="0"/>
              </a:spcBef>
              <a:spcAft>
                <a:spcPts val="0"/>
              </a:spcAft>
              <a:buNone/>
            </a:pPr>
            <a:r>
              <a:rPr lang="ja" sz="2800">
                <a:solidFill>
                  <a:schemeClr val="dk2"/>
                </a:solidFill>
              </a:rPr>
              <a:t>-</a:t>
            </a:r>
            <a:endParaRPr sz="2800">
              <a:solidFill>
                <a:schemeClr val="dk2"/>
              </a:solidFill>
            </a:endParaRPr>
          </a:p>
          <a:p>
            <a:pPr indent="0" lvl="0" marL="0" rtl="0" algn="l">
              <a:spcBef>
                <a:spcPts val="0"/>
              </a:spcBef>
              <a:spcAft>
                <a:spcPts val="0"/>
              </a:spcAft>
              <a:buNone/>
            </a:pPr>
            <a:r>
              <a:rPr lang="ja" sz="2800">
                <a:solidFill>
                  <a:schemeClr val="dk2"/>
                </a:solidFill>
              </a:rPr>
              <a:t>×</a:t>
            </a:r>
            <a:endParaRPr sz="2800">
              <a:solidFill>
                <a:schemeClr val="dk2"/>
              </a:solidFill>
            </a:endParaRPr>
          </a:p>
          <a:p>
            <a:pPr indent="0" lvl="0" marL="0" rtl="0" algn="l">
              <a:spcBef>
                <a:spcPts val="0"/>
              </a:spcBef>
              <a:spcAft>
                <a:spcPts val="0"/>
              </a:spcAft>
              <a:buNone/>
            </a:pPr>
            <a:r>
              <a:rPr lang="ja" sz="2800">
                <a:solidFill>
                  <a:schemeClr val="dk2"/>
                </a:solidFill>
              </a:rPr>
              <a:t>÷</a:t>
            </a:r>
            <a:endParaRPr sz="2800">
              <a:solidFill>
                <a:schemeClr val="dk2"/>
              </a:solidFill>
            </a:endParaRPr>
          </a:p>
        </p:txBody>
      </p:sp>
      <p:sp>
        <p:nvSpPr>
          <p:cNvPr id="279" name="Google Shape;279;p49"/>
          <p:cNvSpPr/>
          <p:nvPr/>
        </p:nvSpPr>
        <p:spPr>
          <a:xfrm>
            <a:off x="980575" y="4287875"/>
            <a:ext cx="5308200" cy="7497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800"/>
              <a:t>オトクな食べ物を買ってこよう！</a:t>
            </a:r>
            <a:endParaRPr sz="1800"/>
          </a:p>
        </p:txBody>
      </p:sp>
      <p:sp>
        <p:nvSpPr>
          <p:cNvPr id="280" name="Google Shape;280;p49"/>
          <p:cNvSpPr/>
          <p:nvPr/>
        </p:nvSpPr>
        <p:spPr>
          <a:xfrm>
            <a:off x="2729600" y="3532200"/>
            <a:ext cx="289500" cy="37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49"/>
          <p:cNvSpPr txBox="1"/>
          <p:nvPr/>
        </p:nvSpPr>
        <p:spPr>
          <a:xfrm>
            <a:off x="4536525" y="3398200"/>
            <a:ext cx="670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2800">
                <a:solidFill>
                  <a:schemeClr val="dk2"/>
                </a:solidFill>
              </a:rPr>
              <a:t>=</a:t>
            </a:r>
            <a:endParaRPr sz="2800">
              <a:solidFill>
                <a:schemeClr val="dk2"/>
              </a:solidFill>
            </a:endParaRPr>
          </a:p>
        </p:txBody>
      </p:sp>
      <p:sp>
        <p:nvSpPr>
          <p:cNvPr id="282" name="Google Shape;282;p49"/>
          <p:cNvSpPr txBox="1"/>
          <p:nvPr/>
        </p:nvSpPr>
        <p:spPr>
          <a:xfrm>
            <a:off x="5051500" y="3404263"/>
            <a:ext cx="17247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2500">
                <a:solidFill>
                  <a:schemeClr val="dk2"/>
                </a:solidFill>
              </a:rPr>
              <a:t>〇〇円/1個</a:t>
            </a:r>
            <a:endParaRPr sz="2500">
              <a:solidFill>
                <a:schemeClr val="dk2"/>
              </a:solidFill>
            </a:endParaRPr>
          </a:p>
        </p:txBody>
      </p:sp>
      <p:pic>
        <p:nvPicPr>
          <p:cNvPr id="283" name="Google Shape;283;p49"/>
          <p:cNvPicPr preferRelativeResize="0"/>
          <p:nvPr/>
        </p:nvPicPr>
        <p:blipFill>
          <a:blip r:embed="rId6">
            <a:alphaModFix/>
          </a:blip>
          <a:stretch>
            <a:fillRect/>
          </a:stretch>
        </p:blipFill>
        <p:spPr>
          <a:xfrm>
            <a:off x="1556525" y="3299775"/>
            <a:ext cx="749700" cy="749700"/>
          </a:xfrm>
          <a:prstGeom prst="rect">
            <a:avLst/>
          </a:prstGeom>
          <a:noFill/>
          <a:ln>
            <a:noFill/>
          </a:ln>
        </p:spPr>
      </p:pic>
      <p:pic>
        <p:nvPicPr>
          <p:cNvPr id="284" name="Google Shape;284;p49"/>
          <p:cNvPicPr preferRelativeResize="0"/>
          <p:nvPr/>
        </p:nvPicPr>
        <p:blipFill>
          <a:blip r:embed="rId5">
            <a:alphaModFix/>
          </a:blip>
          <a:stretch>
            <a:fillRect/>
          </a:stretch>
        </p:blipFill>
        <p:spPr>
          <a:xfrm>
            <a:off x="3362160" y="3284625"/>
            <a:ext cx="831312" cy="780000"/>
          </a:xfrm>
          <a:prstGeom prst="rect">
            <a:avLst/>
          </a:prstGeom>
          <a:noFill/>
          <a:ln>
            <a:noFill/>
          </a:ln>
        </p:spPr>
      </p:pic>
      <p:sp>
        <p:nvSpPr>
          <p:cNvPr id="285" name="Google Shape;285;p49"/>
          <p:cNvSpPr txBox="1"/>
          <p:nvPr/>
        </p:nvSpPr>
        <p:spPr>
          <a:xfrm>
            <a:off x="535700" y="3483450"/>
            <a:ext cx="511800" cy="48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800">
                <a:solidFill>
                  <a:schemeClr val="dk2"/>
                </a:solidFill>
              </a:rPr>
              <a:t>式</a:t>
            </a:r>
            <a:endParaRPr b="1" sz="1800">
              <a:solidFill>
                <a:schemeClr val="dk2"/>
              </a:solidFill>
            </a:endParaRPr>
          </a:p>
        </p:txBody>
      </p:sp>
      <p:pic>
        <p:nvPicPr>
          <p:cNvPr id="286" name="Google Shape;286;p49"/>
          <p:cNvPicPr preferRelativeResize="0"/>
          <p:nvPr/>
        </p:nvPicPr>
        <p:blipFill>
          <a:blip r:embed="rId7">
            <a:alphaModFix/>
          </a:blip>
          <a:stretch>
            <a:fillRect/>
          </a:stretch>
        </p:blipFill>
        <p:spPr>
          <a:xfrm>
            <a:off x="8108850" y="2439175"/>
            <a:ext cx="835875" cy="1008825"/>
          </a:xfrm>
          <a:prstGeom prst="rect">
            <a:avLst/>
          </a:prstGeom>
          <a:noFill/>
          <a:ln>
            <a:noFill/>
          </a:ln>
        </p:spPr>
      </p:pic>
      <p:sp>
        <p:nvSpPr>
          <p:cNvPr id="287" name="Google Shape;287;p49"/>
          <p:cNvSpPr txBox="1"/>
          <p:nvPr/>
        </p:nvSpPr>
        <p:spPr>
          <a:xfrm>
            <a:off x="7893125" y="3324975"/>
            <a:ext cx="1724700" cy="44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ドラッグする</a:t>
            </a: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ゲーム内容</a:t>
            </a:r>
            <a:endParaRPr/>
          </a:p>
        </p:txBody>
      </p:sp>
      <p:sp>
        <p:nvSpPr>
          <p:cNvPr id="293" name="Google Shape;293;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sz="2000"/>
              <a:t>買い物をして、料理をするゲーム。</a:t>
            </a:r>
            <a:endParaRPr sz="2000"/>
          </a:p>
          <a:p>
            <a:pPr indent="0" lvl="0" marL="0" rtl="0" algn="l">
              <a:spcBef>
                <a:spcPts val="0"/>
              </a:spcBef>
              <a:spcAft>
                <a:spcPts val="0"/>
              </a:spcAft>
              <a:buNone/>
            </a:pPr>
            <a:r>
              <a:t/>
            </a:r>
            <a:endParaRPr/>
          </a:p>
          <a:p>
            <a:pPr indent="0" lvl="0" marL="0" rtl="0" algn="l">
              <a:spcBef>
                <a:spcPts val="0"/>
              </a:spcBef>
              <a:spcAft>
                <a:spcPts val="0"/>
              </a:spcAft>
              <a:buNone/>
            </a:pPr>
            <a:r>
              <a:rPr lang="ja"/>
              <a:t>ストーリー</a:t>
            </a:r>
            <a:endParaRPr/>
          </a:p>
          <a:p>
            <a:pPr indent="0" lvl="0" marL="0" rtl="0" algn="l">
              <a:spcBef>
                <a:spcPts val="0"/>
              </a:spcBef>
              <a:spcAft>
                <a:spcPts val="0"/>
              </a:spcAft>
              <a:buNone/>
            </a:pPr>
            <a:r>
              <a:rPr lang="ja"/>
              <a:t>ペットを育成するために、食材を買って、料理をする。</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ボツ</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1"/>
          <p:cNvSpPr/>
          <p:nvPr/>
        </p:nvSpPr>
        <p:spPr>
          <a:xfrm>
            <a:off x="4390263" y="1240775"/>
            <a:ext cx="2181600" cy="1791600"/>
          </a:xfrm>
          <a:prstGeom prst="round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p51"/>
          <p:cNvSpPr/>
          <p:nvPr/>
        </p:nvSpPr>
        <p:spPr>
          <a:xfrm>
            <a:off x="1510775" y="1240775"/>
            <a:ext cx="2181600" cy="1791600"/>
          </a:xfrm>
          <a:prstGeom prst="round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51"/>
          <p:cNvSpPr txBox="1"/>
          <p:nvPr>
            <p:ph type="title"/>
          </p:nvPr>
        </p:nvSpPr>
        <p:spPr>
          <a:xfrm>
            <a:off x="0" y="64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ゲーム画面</a:t>
            </a:r>
            <a:r>
              <a:rPr lang="ja"/>
              <a:t>：買い物</a:t>
            </a:r>
            <a:r>
              <a:rPr lang="ja"/>
              <a:t>（</a:t>
            </a:r>
            <a:r>
              <a:rPr lang="ja"/>
              <a:t>中級</a:t>
            </a:r>
            <a:r>
              <a:rPr lang="ja"/>
              <a:t>）</a:t>
            </a:r>
            <a:endParaRPr/>
          </a:p>
        </p:txBody>
      </p:sp>
      <p:sp>
        <p:nvSpPr>
          <p:cNvPr id="301" name="Google Shape;301;p51"/>
          <p:cNvSpPr/>
          <p:nvPr/>
        </p:nvSpPr>
        <p:spPr>
          <a:xfrm>
            <a:off x="1388975" y="3294550"/>
            <a:ext cx="1084800" cy="78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2" name="Google Shape;302;p51"/>
          <p:cNvPicPr preferRelativeResize="0"/>
          <p:nvPr/>
        </p:nvPicPr>
        <p:blipFill>
          <a:blip r:embed="rId3">
            <a:alphaModFix/>
          </a:blip>
          <a:stretch>
            <a:fillRect/>
          </a:stretch>
        </p:blipFill>
        <p:spPr>
          <a:xfrm>
            <a:off x="1669300" y="1170125"/>
            <a:ext cx="1913500" cy="1482950"/>
          </a:xfrm>
          <a:prstGeom prst="rect">
            <a:avLst/>
          </a:prstGeom>
          <a:noFill/>
          <a:ln>
            <a:noFill/>
          </a:ln>
        </p:spPr>
      </p:pic>
      <p:pic>
        <p:nvPicPr>
          <p:cNvPr id="303" name="Google Shape;303;p51"/>
          <p:cNvPicPr preferRelativeResize="0"/>
          <p:nvPr/>
        </p:nvPicPr>
        <p:blipFill>
          <a:blip r:embed="rId4">
            <a:alphaModFix/>
          </a:blip>
          <a:stretch>
            <a:fillRect/>
          </a:stretch>
        </p:blipFill>
        <p:spPr>
          <a:xfrm>
            <a:off x="4606588" y="1277425"/>
            <a:ext cx="1816024" cy="1375650"/>
          </a:xfrm>
          <a:prstGeom prst="rect">
            <a:avLst/>
          </a:prstGeom>
          <a:noFill/>
          <a:ln>
            <a:noFill/>
          </a:ln>
        </p:spPr>
      </p:pic>
      <p:sp>
        <p:nvSpPr>
          <p:cNvPr id="304" name="Google Shape;304;p51"/>
          <p:cNvSpPr/>
          <p:nvPr/>
        </p:nvSpPr>
        <p:spPr>
          <a:xfrm>
            <a:off x="3253750" y="3294550"/>
            <a:ext cx="1084800" cy="78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51"/>
          <p:cNvSpPr txBox="1"/>
          <p:nvPr/>
        </p:nvSpPr>
        <p:spPr>
          <a:xfrm>
            <a:off x="2174900" y="2653075"/>
            <a:ext cx="14079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200円</a:t>
            </a:r>
            <a:endParaRPr sz="1800">
              <a:solidFill>
                <a:schemeClr val="dk2"/>
              </a:solidFill>
            </a:endParaRPr>
          </a:p>
        </p:txBody>
      </p:sp>
      <p:sp>
        <p:nvSpPr>
          <p:cNvPr id="306" name="Google Shape;306;p51"/>
          <p:cNvSpPr txBox="1"/>
          <p:nvPr/>
        </p:nvSpPr>
        <p:spPr>
          <a:xfrm>
            <a:off x="5048325" y="2571750"/>
            <a:ext cx="14079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160円</a:t>
            </a:r>
            <a:endParaRPr sz="1800">
              <a:solidFill>
                <a:schemeClr val="dk2"/>
              </a:solidFill>
            </a:endParaRPr>
          </a:p>
        </p:txBody>
      </p:sp>
      <p:sp>
        <p:nvSpPr>
          <p:cNvPr id="307" name="Google Shape;307;p51"/>
          <p:cNvSpPr/>
          <p:nvPr/>
        </p:nvSpPr>
        <p:spPr>
          <a:xfrm>
            <a:off x="7812175" y="564325"/>
            <a:ext cx="1164000" cy="415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8" name="Google Shape;308;p51"/>
          <p:cNvPicPr preferRelativeResize="0"/>
          <p:nvPr/>
        </p:nvPicPr>
        <p:blipFill>
          <a:blip r:embed="rId5">
            <a:alphaModFix/>
          </a:blip>
          <a:stretch>
            <a:fillRect/>
          </a:stretch>
        </p:blipFill>
        <p:spPr>
          <a:xfrm>
            <a:off x="7838263" y="637525"/>
            <a:ext cx="1111825" cy="1043200"/>
          </a:xfrm>
          <a:prstGeom prst="rect">
            <a:avLst/>
          </a:prstGeom>
          <a:noFill/>
          <a:ln>
            <a:noFill/>
          </a:ln>
        </p:spPr>
      </p:pic>
      <p:pic>
        <p:nvPicPr>
          <p:cNvPr id="309" name="Google Shape;309;p51"/>
          <p:cNvPicPr preferRelativeResize="0"/>
          <p:nvPr/>
        </p:nvPicPr>
        <p:blipFill>
          <a:blip r:embed="rId6">
            <a:alphaModFix/>
          </a:blip>
          <a:stretch>
            <a:fillRect/>
          </a:stretch>
        </p:blipFill>
        <p:spPr>
          <a:xfrm>
            <a:off x="7785649" y="1751275"/>
            <a:ext cx="1217051" cy="1217051"/>
          </a:xfrm>
          <a:prstGeom prst="rect">
            <a:avLst/>
          </a:prstGeom>
          <a:noFill/>
          <a:ln>
            <a:noFill/>
          </a:ln>
        </p:spPr>
      </p:pic>
      <p:sp>
        <p:nvSpPr>
          <p:cNvPr id="310" name="Google Shape;310;p51"/>
          <p:cNvSpPr txBox="1"/>
          <p:nvPr/>
        </p:nvSpPr>
        <p:spPr>
          <a:xfrm>
            <a:off x="2717425" y="3550475"/>
            <a:ext cx="4632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311" name="Google Shape;311;p51"/>
          <p:cNvSpPr/>
          <p:nvPr/>
        </p:nvSpPr>
        <p:spPr>
          <a:xfrm>
            <a:off x="7269775" y="2404775"/>
            <a:ext cx="463200" cy="207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2" name="Google Shape;312;p51"/>
          <p:cNvSpPr txBox="1"/>
          <p:nvPr/>
        </p:nvSpPr>
        <p:spPr>
          <a:xfrm>
            <a:off x="7336825" y="2557125"/>
            <a:ext cx="341400" cy="13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2800">
                <a:solidFill>
                  <a:schemeClr val="dk2"/>
                </a:solidFill>
              </a:rPr>
              <a:t>+</a:t>
            </a:r>
            <a:endParaRPr sz="2800">
              <a:solidFill>
                <a:schemeClr val="dk2"/>
              </a:solidFill>
            </a:endParaRPr>
          </a:p>
          <a:p>
            <a:pPr indent="0" lvl="0" marL="0" rtl="0" algn="l">
              <a:spcBef>
                <a:spcPts val="0"/>
              </a:spcBef>
              <a:spcAft>
                <a:spcPts val="0"/>
              </a:spcAft>
              <a:buNone/>
            </a:pPr>
            <a:r>
              <a:rPr lang="ja" sz="2800">
                <a:solidFill>
                  <a:schemeClr val="dk2"/>
                </a:solidFill>
              </a:rPr>
              <a:t>-</a:t>
            </a:r>
            <a:endParaRPr sz="2800">
              <a:solidFill>
                <a:schemeClr val="dk2"/>
              </a:solidFill>
            </a:endParaRPr>
          </a:p>
          <a:p>
            <a:pPr indent="0" lvl="0" marL="0" rtl="0" algn="l">
              <a:spcBef>
                <a:spcPts val="0"/>
              </a:spcBef>
              <a:spcAft>
                <a:spcPts val="0"/>
              </a:spcAft>
              <a:buNone/>
            </a:pPr>
            <a:r>
              <a:rPr lang="ja" sz="2800">
                <a:solidFill>
                  <a:schemeClr val="dk2"/>
                </a:solidFill>
              </a:rPr>
              <a:t>×</a:t>
            </a:r>
            <a:endParaRPr sz="2800">
              <a:solidFill>
                <a:schemeClr val="dk2"/>
              </a:solidFill>
            </a:endParaRPr>
          </a:p>
          <a:p>
            <a:pPr indent="0" lvl="0" marL="0" rtl="0" algn="l">
              <a:spcBef>
                <a:spcPts val="0"/>
              </a:spcBef>
              <a:spcAft>
                <a:spcPts val="0"/>
              </a:spcAft>
              <a:buNone/>
            </a:pPr>
            <a:r>
              <a:rPr lang="ja" sz="2800">
                <a:solidFill>
                  <a:schemeClr val="dk2"/>
                </a:solidFill>
              </a:rPr>
              <a:t>÷</a:t>
            </a:r>
            <a:endParaRPr sz="2800">
              <a:solidFill>
                <a:schemeClr val="dk2"/>
              </a:solidFill>
            </a:endParaRPr>
          </a:p>
        </p:txBody>
      </p:sp>
      <p:sp>
        <p:nvSpPr>
          <p:cNvPr id="313" name="Google Shape;313;p51"/>
          <p:cNvSpPr/>
          <p:nvPr/>
        </p:nvSpPr>
        <p:spPr>
          <a:xfrm>
            <a:off x="980575" y="4287875"/>
            <a:ext cx="5308200" cy="7497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800"/>
              <a:t>オトクな食べ物を買ってこよう！</a:t>
            </a:r>
            <a:endParaRPr sz="1800"/>
          </a:p>
        </p:txBody>
      </p:sp>
      <p:sp>
        <p:nvSpPr>
          <p:cNvPr id="314" name="Google Shape;314;p51"/>
          <p:cNvSpPr/>
          <p:nvPr/>
        </p:nvSpPr>
        <p:spPr>
          <a:xfrm>
            <a:off x="2729600" y="3532200"/>
            <a:ext cx="289500" cy="37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a:t>
            </a:r>
            <a:endParaRPr/>
          </a:p>
        </p:txBody>
      </p:sp>
      <p:sp>
        <p:nvSpPr>
          <p:cNvPr id="315" name="Google Shape;315;p51"/>
          <p:cNvSpPr txBox="1"/>
          <p:nvPr/>
        </p:nvSpPr>
        <p:spPr>
          <a:xfrm>
            <a:off x="4536525" y="3398200"/>
            <a:ext cx="670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2800">
                <a:solidFill>
                  <a:schemeClr val="dk2"/>
                </a:solidFill>
              </a:rPr>
              <a:t>=</a:t>
            </a:r>
            <a:endParaRPr sz="2800">
              <a:solidFill>
                <a:schemeClr val="dk2"/>
              </a:solidFill>
            </a:endParaRPr>
          </a:p>
        </p:txBody>
      </p:sp>
      <p:sp>
        <p:nvSpPr>
          <p:cNvPr id="316" name="Google Shape;316;p51"/>
          <p:cNvSpPr txBox="1"/>
          <p:nvPr/>
        </p:nvSpPr>
        <p:spPr>
          <a:xfrm>
            <a:off x="5051500" y="3404263"/>
            <a:ext cx="17247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2500">
                <a:solidFill>
                  <a:schemeClr val="dk2"/>
                </a:solidFill>
              </a:rPr>
              <a:t>〇〇円/1個</a:t>
            </a:r>
            <a:endParaRPr sz="2500">
              <a:solidFill>
                <a:schemeClr val="dk2"/>
              </a:solidFill>
            </a:endParaRPr>
          </a:p>
        </p:txBody>
      </p:sp>
      <p:pic>
        <p:nvPicPr>
          <p:cNvPr id="317" name="Google Shape;317;p51"/>
          <p:cNvPicPr preferRelativeResize="0"/>
          <p:nvPr/>
        </p:nvPicPr>
        <p:blipFill>
          <a:blip r:embed="rId6">
            <a:alphaModFix/>
          </a:blip>
          <a:stretch>
            <a:fillRect/>
          </a:stretch>
        </p:blipFill>
        <p:spPr>
          <a:xfrm>
            <a:off x="1556525" y="3299775"/>
            <a:ext cx="749700" cy="749700"/>
          </a:xfrm>
          <a:prstGeom prst="rect">
            <a:avLst/>
          </a:prstGeom>
          <a:noFill/>
          <a:ln>
            <a:noFill/>
          </a:ln>
        </p:spPr>
      </p:pic>
      <p:pic>
        <p:nvPicPr>
          <p:cNvPr id="318" name="Google Shape;318;p51"/>
          <p:cNvPicPr preferRelativeResize="0"/>
          <p:nvPr/>
        </p:nvPicPr>
        <p:blipFill>
          <a:blip r:embed="rId5">
            <a:alphaModFix/>
          </a:blip>
          <a:stretch>
            <a:fillRect/>
          </a:stretch>
        </p:blipFill>
        <p:spPr>
          <a:xfrm>
            <a:off x="3362160" y="3284625"/>
            <a:ext cx="831312" cy="780000"/>
          </a:xfrm>
          <a:prstGeom prst="rect">
            <a:avLst/>
          </a:prstGeom>
          <a:noFill/>
          <a:ln>
            <a:noFill/>
          </a:ln>
        </p:spPr>
      </p:pic>
      <p:pic>
        <p:nvPicPr>
          <p:cNvPr id="319" name="Google Shape;319;p51"/>
          <p:cNvPicPr preferRelativeResize="0"/>
          <p:nvPr/>
        </p:nvPicPr>
        <p:blipFill>
          <a:blip r:embed="rId7">
            <a:alphaModFix/>
          </a:blip>
          <a:stretch>
            <a:fillRect/>
          </a:stretch>
        </p:blipFill>
        <p:spPr>
          <a:xfrm>
            <a:off x="1510774" y="1218575"/>
            <a:ext cx="463200" cy="462148"/>
          </a:xfrm>
          <a:prstGeom prst="rect">
            <a:avLst/>
          </a:prstGeom>
          <a:noFill/>
          <a:ln>
            <a:noFill/>
          </a:ln>
        </p:spPr>
      </p:pic>
      <p:sp>
        <p:nvSpPr>
          <p:cNvPr id="320" name="Google Shape;320;p51"/>
          <p:cNvSpPr txBox="1"/>
          <p:nvPr/>
        </p:nvSpPr>
        <p:spPr>
          <a:xfrm>
            <a:off x="535700" y="3483450"/>
            <a:ext cx="511800" cy="48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800">
                <a:solidFill>
                  <a:schemeClr val="dk2"/>
                </a:solidFill>
              </a:rPr>
              <a:t>式</a:t>
            </a:r>
            <a:endParaRPr b="1"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2"/>
          <p:cNvSpPr/>
          <p:nvPr/>
        </p:nvSpPr>
        <p:spPr>
          <a:xfrm>
            <a:off x="1510775" y="704500"/>
            <a:ext cx="5369100" cy="2328000"/>
          </a:xfrm>
          <a:prstGeom prst="round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ja"/>
              <a:t>カゴ</a:t>
            </a:r>
            <a:endParaRPr/>
          </a:p>
        </p:txBody>
      </p:sp>
      <p:sp>
        <p:nvSpPr>
          <p:cNvPr id="326" name="Google Shape;326;p52"/>
          <p:cNvSpPr txBox="1"/>
          <p:nvPr>
            <p:ph type="title"/>
          </p:nvPr>
        </p:nvSpPr>
        <p:spPr>
          <a:xfrm>
            <a:off x="0" y="64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ゲーム画面</a:t>
            </a:r>
            <a:r>
              <a:rPr lang="ja"/>
              <a:t>：料理</a:t>
            </a:r>
            <a:r>
              <a:rPr lang="ja"/>
              <a:t>（</a:t>
            </a:r>
            <a:r>
              <a:rPr lang="ja"/>
              <a:t>初級~</a:t>
            </a:r>
            <a:r>
              <a:rPr lang="ja"/>
              <a:t>）</a:t>
            </a:r>
            <a:endParaRPr/>
          </a:p>
        </p:txBody>
      </p:sp>
      <p:sp>
        <p:nvSpPr>
          <p:cNvPr id="327" name="Google Shape;327;p52"/>
          <p:cNvSpPr/>
          <p:nvPr/>
        </p:nvSpPr>
        <p:spPr>
          <a:xfrm>
            <a:off x="7812175" y="564325"/>
            <a:ext cx="1164000" cy="415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8" name="Google Shape;328;p52"/>
          <p:cNvPicPr preferRelativeResize="0"/>
          <p:nvPr/>
        </p:nvPicPr>
        <p:blipFill>
          <a:blip r:embed="rId3">
            <a:alphaModFix/>
          </a:blip>
          <a:stretch>
            <a:fillRect/>
          </a:stretch>
        </p:blipFill>
        <p:spPr>
          <a:xfrm>
            <a:off x="7838263" y="637525"/>
            <a:ext cx="1111825" cy="1043200"/>
          </a:xfrm>
          <a:prstGeom prst="rect">
            <a:avLst/>
          </a:prstGeom>
          <a:noFill/>
          <a:ln>
            <a:noFill/>
          </a:ln>
        </p:spPr>
      </p:pic>
      <p:sp>
        <p:nvSpPr>
          <p:cNvPr id="329" name="Google Shape;329;p52"/>
          <p:cNvSpPr/>
          <p:nvPr/>
        </p:nvSpPr>
        <p:spPr>
          <a:xfrm>
            <a:off x="980575" y="4287875"/>
            <a:ext cx="5308200" cy="7497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800">
                <a:solidFill>
                  <a:schemeClr val="dk1"/>
                </a:solidFill>
              </a:rPr>
              <a:t>3</a:t>
            </a:r>
            <a:r>
              <a:rPr lang="ja" sz="1800">
                <a:solidFill>
                  <a:schemeClr val="dk1"/>
                </a:solidFill>
              </a:rPr>
              <a:t>人前のご飯を作ろう！</a:t>
            </a:r>
            <a:endParaRPr sz="1800"/>
          </a:p>
        </p:txBody>
      </p:sp>
      <p:sp>
        <p:nvSpPr>
          <p:cNvPr id="330" name="Google Shape;330;p52"/>
          <p:cNvSpPr txBox="1"/>
          <p:nvPr/>
        </p:nvSpPr>
        <p:spPr>
          <a:xfrm>
            <a:off x="3198850" y="3367700"/>
            <a:ext cx="23829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2500">
                <a:solidFill>
                  <a:schemeClr val="dk2"/>
                </a:solidFill>
              </a:rPr>
              <a:t>使う</a:t>
            </a:r>
            <a:endParaRPr sz="2500">
              <a:solidFill>
                <a:schemeClr val="dk2"/>
              </a:solidFill>
            </a:endParaRPr>
          </a:p>
        </p:txBody>
      </p:sp>
      <p:sp>
        <p:nvSpPr>
          <p:cNvPr id="331" name="Google Shape;331;p52"/>
          <p:cNvSpPr/>
          <p:nvPr/>
        </p:nvSpPr>
        <p:spPr>
          <a:xfrm>
            <a:off x="42075" y="1015300"/>
            <a:ext cx="1328400" cy="221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000"/>
              <a:t>レシピ（</a:t>
            </a:r>
            <a:r>
              <a:rPr b="1" lang="ja" sz="1000"/>
              <a:t>1人前</a:t>
            </a:r>
            <a:r>
              <a:rPr lang="ja" sz="1000"/>
              <a:t>）</a:t>
            </a:r>
            <a:endParaRPr sz="1000"/>
          </a:p>
          <a:p>
            <a:pPr indent="0" lvl="0" marL="0" rtl="0" algn="l">
              <a:spcBef>
                <a:spcPts val="0"/>
              </a:spcBef>
              <a:spcAft>
                <a:spcPts val="0"/>
              </a:spcAft>
              <a:buNone/>
            </a:pPr>
            <a:r>
              <a:rPr lang="ja" sz="1000"/>
              <a:t>たまご 2個</a:t>
            </a:r>
            <a:endParaRPr sz="1000"/>
          </a:p>
          <a:p>
            <a:pPr indent="0" lvl="0" marL="0" rtl="0" algn="l">
              <a:spcBef>
                <a:spcPts val="0"/>
              </a:spcBef>
              <a:spcAft>
                <a:spcPts val="0"/>
              </a:spcAft>
              <a:buNone/>
            </a:pPr>
            <a:r>
              <a:rPr lang="ja" sz="1000"/>
              <a:t>肉 200g</a:t>
            </a:r>
            <a:endParaRPr sz="1000"/>
          </a:p>
          <a:p>
            <a:pPr indent="0" lvl="0" marL="0" rtl="0" algn="l">
              <a:spcBef>
                <a:spcPts val="0"/>
              </a:spcBef>
              <a:spcAft>
                <a:spcPts val="0"/>
              </a:spcAft>
              <a:buNone/>
            </a:pPr>
            <a:r>
              <a:t/>
            </a:r>
            <a:endParaRPr sz="1000"/>
          </a:p>
        </p:txBody>
      </p:sp>
      <p:pic>
        <p:nvPicPr>
          <p:cNvPr id="332" name="Google Shape;332;p52"/>
          <p:cNvPicPr preferRelativeResize="0"/>
          <p:nvPr/>
        </p:nvPicPr>
        <p:blipFill>
          <a:blip r:embed="rId3">
            <a:alphaModFix/>
          </a:blip>
          <a:stretch>
            <a:fillRect/>
          </a:stretch>
        </p:blipFill>
        <p:spPr>
          <a:xfrm>
            <a:off x="7838250" y="1773500"/>
            <a:ext cx="1111825" cy="1043200"/>
          </a:xfrm>
          <a:prstGeom prst="rect">
            <a:avLst/>
          </a:prstGeom>
          <a:noFill/>
          <a:ln>
            <a:noFill/>
          </a:ln>
        </p:spPr>
      </p:pic>
      <p:pic>
        <p:nvPicPr>
          <p:cNvPr id="333" name="Google Shape;333;p52"/>
          <p:cNvPicPr preferRelativeResize="0"/>
          <p:nvPr/>
        </p:nvPicPr>
        <p:blipFill>
          <a:blip r:embed="rId4">
            <a:alphaModFix/>
          </a:blip>
          <a:stretch>
            <a:fillRect/>
          </a:stretch>
        </p:blipFill>
        <p:spPr>
          <a:xfrm>
            <a:off x="8184974" y="3111723"/>
            <a:ext cx="543090" cy="664200"/>
          </a:xfrm>
          <a:prstGeom prst="rect">
            <a:avLst/>
          </a:prstGeom>
          <a:noFill/>
          <a:ln>
            <a:noFill/>
          </a:ln>
        </p:spPr>
      </p:pic>
      <p:pic>
        <p:nvPicPr>
          <p:cNvPr id="334" name="Google Shape;334;p52"/>
          <p:cNvPicPr preferRelativeResize="0"/>
          <p:nvPr/>
        </p:nvPicPr>
        <p:blipFill>
          <a:blip r:embed="rId4">
            <a:alphaModFix/>
          </a:blip>
          <a:stretch>
            <a:fillRect/>
          </a:stretch>
        </p:blipFill>
        <p:spPr>
          <a:xfrm>
            <a:off x="3455924" y="1600423"/>
            <a:ext cx="543090" cy="664200"/>
          </a:xfrm>
          <a:prstGeom prst="rect">
            <a:avLst/>
          </a:prstGeom>
          <a:noFill/>
          <a:ln>
            <a:noFill/>
          </a:ln>
        </p:spPr>
      </p:pic>
      <p:pic>
        <p:nvPicPr>
          <p:cNvPr id="335" name="Google Shape;335;p52"/>
          <p:cNvPicPr preferRelativeResize="0"/>
          <p:nvPr/>
        </p:nvPicPr>
        <p:blipFill>
          <a:blip r:embed="rId4">
            <a:alphaModFix/>
          </a:blip>
          <a:stretch>
            <a:fillRect/>
          </a:stretch>
        </p:blipFill>
        <p:spPr>
          <a:xfrm>
            <a:off x="2188374" y="1624823"/>
            <a:ext cx="543090" cy="664200"/>
          </a:xfrm>
          <a:prstGeom prst="rect">
            <a:avLst/>
          </a:prstGeom>
          <a:noFill/>
          <a:ln>
            <a:noFill/>
          </a:ln>
        </p:spPr>
      </p:pic>
      <p:pic>
        <p:nvPicPr>
          <p:cNvPr id="336" name="Google Shape;336;p52"/>
          <p:cNvPicPr preferRelativeResize="0"/>
          <p:nvPr/>
        </p:nvPicPr>
        <p:blipFill>
          <a:blip r:embed="rId4">
            <a:alphaModFix/>
          </a:blip>
          <a:stretch>
            <a:fillRect/>
          </a:stretch>
        </p:blipFill>
        <p:spPr>
          <a:xfrm>
            <a:off x="6254724" y="1680723"/>
            <a:ext cx="543090" cy="664200"/>
          </a:xfrm>
          <a:prstGeom prst="rect">
            <a:avLst/>
          </a:prstGeom>
          <a:noFill/>
          <a:ln>
            <a:noFill/>
          </a:ln>
        </p:spPr>
      </p:pic>
      <p:pic>
        <p:nvPicPr>
          <p:cNvPr id="337" name="Google Shape;337;p52"/>
          <p:cNvPicPr preferRelativeResize="0"/>
          <p:nvPr/>
        </p:nvPicPr>
        <p:blipFill>
          <a:blip r:embed="rId5">
            <a:alphaModFix/>
          </a:blip>
          <a:stretch>
            <a:fillRect/>
          </a:stretch>
        </p:blipFill>
        <p:spPr>
          <a:xfrm>
            <a:off x="6385150" y="2023675"/>
            <a:ext cx="835875" cy="1008825"/>
          </a:xfrm>
          <a:prstGeom prst="rect">
            <a:avLst/>
          </a:prstGeom>
          <a:noFill/>
          <a:ln>
            <a:noFill/>
          </a:ln>
        </p:spPr>
      </p:pic>
      <p:sp>
        <p:nvSpPr>
          <p:cNvPr id="338" name="Google Shape;338;p52"/>
          <p:cNvSpPr txBox="1"/>
          <p:nvPr/>
        </p:nvSpPr>
        <p:spPr>
          <a:xfrm>
            <a:off x="6169425" y="2909475"/>
            <a:ext cx="1724700" cy="44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ドラッグする</a:t>
            </a:r>
            <a:endParaRPr sz="1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3"/>
          <p:cNvSpPr/>
          <p:nvPr/>
        </p:nvSpPr>
        <p:spPr>
          <a:xfrm>
            <a:off x="1510775" y="704500"/>
            <a:ext cx="5369100" cy="2328000"/>
          </a:xfrm>
          <a:prstGeom prst="round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ja"/>
              <a:t>カゴ</a:t>
            </a:r>
            <a:endParaRPr/>
          </a:p>
        </p:txBody>
      </p:sp>
      <p:sp>
        <p:nvSpPr>
          <p:cNvPr id="344" name="Google Shape;344;p53"/>
          <p:cNvSpPr txBox="1"/>
          <p:nvPr>
            <p:ph type="title"/>
          </p:nvPr>
        </p:nvSpPr>
        <p:spPr>
          <a:xfrm>
            <a:off x="0" y="64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ゲーム画面</a:t>
            </a:r>
            <a:r>
              <a:rPr lang="ja"/>
              <a:t>：料理</a:t>
            </a:r>
            <a:r>
              <a:rPr lang="ja"/>
              <a:t>（中級~）</a:t>
            </a:r>
            <a:endParaRPr/>
          </a:p>
        </p:txBody>
      </p:sp>
      <p:sp>
        <p:nvSpPr>
          <p:cNvPr id="345" name="Google Shape;345;p53"/>
          <p:cNvSpPr/>
          <p:nvPr/>
        </p:nvSpPr>
        <p:spPr>
          <a:xfrm>
            <a:off x="7812175" y="564325"/>
            <a:ext cx="1164000" cy="415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6" name="Google Shape;346;p53"/>
          <p:cNvPicPr preferRelativeResize="0"/>
          <p:nvPr/>
        </p:nvPicPr>
        <p:blipFill>
          <a:blip r:embed="rId3">
            <a:alphaModFix/>
          </a:blip>
          <a:stretch>
            <a:fillRect/>
          </a:stretch>
        </p:blipFill>
        <p:spPr>
          <a:xfrm>
            <a:off x="7838263" y="637525"/>
            <a:ext cx="1111825" cy="1043200"/>
          </a:xfrm>
          <a:prstGeom prst="rect">
            <a:avLst/>
          </a:prstGeom>
          <a:noFill/>
          <a:ln>
            <a:noFill/>
          </a:ln>
        </p:spPr>
      </p:pic>
      <p:sp>
        <p:nvSpPr>
          <p:cNvPr id="347" name="Google Shape;347;p53"/>
          <p:cNvSpPr/>
          <p:nvPr/>
        </p:nvSpPr>
        <p:spPr>
          <a:xfrm>
            <a:off x="980575" y="4287875"/>
            <a:ext cx="5308200" cy="7497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800"/>
              <a:t>3人前のご飯を作ろう！</a:t>
            </a:r>
            <a:endParaRPr sz="1800"/>
          </a:p>
        </p:txBody>
      </p:sp>
      <p:sp>
        <p:nvSpPr>
          <p:cNvPr id="348" name="Google Shape;348;p53"/>
          <p:cNvSpPr txBox="1"/>
          <p:nvPr/>
        </p:nvSpPr>
        <p:spPr>
          <a:xfrm>
            <a:off x="3198850" y="3367700"/>
            <a:ext cx="23829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2500">
                <a:solidFill>
                  <a:schemeClr val="dk2"/>
                </a:solidFill>
              </a:rPr>
              <a:t>使う</a:t>
            </a:r>
            <a:endParaRPr sz="2500">
              <a:solidFill>
                <a:schemeClr val="dk2"/>
              </a:solidFill>
            </a:endParaRPr>
          </a:p>
        </p:txBody>
      </p:sp>
      <p:sp>
        <p:nvSpPr>
          <p:cNvPr id="349" name="Google Shape;349;p53"/>
          <p:cNvSpPr/>
          <p:nvPr/>
        </p:nvSpPr>
        <p:spPr>
          <a:xfrm>
            <a:off x="42075" y="1015300"/>
            <a:ext cx="1328400" cy="221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000"/>
              <a:t>レシピ（</a:t>
            </a:r>
            <a:r>
              <a:rPr b="1" lang="ja" sz="1000"/>
              <a:t>2人前</a:t>
            </a:r>
            <a:r>
              <a:rPr lang="ja" sz="1000"/>
              <a:t>）</a:t>
            </a:r>
            <a:endParaRPr sz="1000"/>
          </a:p>
          <a:p>
            <a:pPr indent="0" lvl="0" marL="0" rtl="0" algn="l">
              <a:spcBef>
                <a:spcPts val="0"/>
              </a:spcBef>
              <a:spcAft>
                <a:spcPts val="0"/>
              </a:spcAft>
              <a:buNone/>
            </a:pPr>
            <a:r>
              <a:rPr lang="ja" sz="1000"/>
              <a:t>たまご 4個</a:t>
            </a:r>
            <a:endParaRPr sz="1000"/>
          </a:p>
          <a:p>
            <a:pPr indent="0" lvl="0" marL="0" rtl="0" algn="l">
              <a:spcBef>
                <a:spcPts val="0"/>
              </a:spcBef>
              <a:spcAft>
                <a:spcPts val="0"/>
              </a:spcAft>
              <a:buNone/>
            </a:pPr>
            <a:r>
              <a:rPr lang="ja" sz="1000"/>
              <a:t>肉 200g</a:t>
            </a:r>
            <a:endParaRPr sz="1000"/>
          </a:p>
          <a:p>
            <a:pPr indent="0" lvl="0" marL="0" rtl="0" algn="l">
              <a:spcBef>
                <a:spcPts val="0"/>
              </a:spcBef>
              <a:spcAft>
                <a:spcPts val="0"/>
              </a:spcAft>
              <a:buNone/>
            </a:pPr>
            <a:r>
              <a:t/>
            </a:r>
            <a:endParaRPr sz="1000"/>
          </a:p>
        </p:txBody>
      </p:sp>
      <p:pic>
        <p:nvPicPr>
          <p:cNvPr id="350" name="Google Shape;350;p53"/>
          <p:cNvPicPr preferRelativeResize="0"/>
          <p:nvPr/>
        </p:nvPicPr>
        <p:blipFill>
          <a:blip r:embed="rId3">
            <a:alphaModFix/>
          </a:blip>
          <a:stretch>
            <a:fillRect/>
          </a:stretch>
        </p:blipFill>
        <p:spPr>
          <a:xfrm>
            <a:off x="1951313" y="1346900"/>
            <a:ext cx="1111825" cy="1043200"/>
          </a:xfrm>
          <a:prstGeom prst="rect">
            <a:avLst/>
          </a:prstGeom>
          <a:noFill/>
          <a:ln>
            <a:noFill/>
          </a:ln>
        </p:spPr>
      </p:pic>
      <p:pic>
        <p:nvPicPr>
          <p:cNvPr id="351" name="Google Shape;351;p53"/>
          <p:cNvPicPr preferRelativeResize="0"/>
          <p:nvPr/>
        </p:nvPicPr>
        <p:blipFill>
          <a:blip r:embed="rId3">
            <a:alphaModFix/>
          </a:blip>
          <a:stretch>
            <a:fillRect/>
          </a:stretch>
        </p:blipFill>
        <p:spPr>
          <a:xfrm>
            <a:off x="7838250" y="1773500"/>
            <a:ext cx="1111825" cy="1043200"/>
          </a:xfrm>
          <a:prstGeom prst="rect">
            <a:avLst/>
          </a:prstGeom>
          <a:noFill/>
          <a:ln>
            <a:noFill/>
          </a:ln>
        </p:spPr>
      </p:pic>
      <p:sp>
        <p:nvSpPr>
          <p:cNvPr id="352" name="Google Shape;352;p53"/>
          <p:cNvSpPr txBox="1"/>
          <p:nvPr/>
        </p:nvSpPr>
        <p:spPr>
          <a:xfrm>
            <a:off x="4960075" y="3836925"/>
            <a:ext cx="28095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200">
                <a:solidFill>
                  <a:schemeClr val="dk2"/>
                </a:solidFill>
              </a:rPr>
              <a:t>ヒント：1人前のレシピを考えよう！</a:t>
            </a:r>
            <a:endParaRPr sz="1200">
              <a:solidFill>
                <a:schemeClr val="dk2"/>
              </a:solidFill>
            </a:endParaRPr>
          </a:p>
        </p:txBody>
      </p:sp>
      <p:pic>
        <p:nvPicPr>
          <p:cNvPr id="353" name="Google Shape;353;p53"/>
          <p:cNvPicPr preferRelativeResize="0"/>
          <p:nvPr/>
        </p:nvPicPr>
        <p:blipFill>
          <a:blip r:embed="rId4">
            <a:alphaModFix/>
          </a:blip>
          <a:stretch>
            <a:fillRect/>
          </a:stretch>
        </p:blipFill>
        <p:spPr>
          <a:xfrm>
            <a:off x="8184974" y="3111723"/>
            <a:ext cx="543090" cy="664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ミッション</a:t>
            </a:r>
            <a:endParaRPr/>
          </a:p>
        </p:txBody>
      </p:sp>
      <p:sp>
        <p:nvSpPr>
          <p:cNvPr id="359" name="Google Shape;359;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ja" sz="2100"/>
              <a:t>買い物</a:t>
            </a:r>
            <a:endParaRPr sz="2100"/>
          </a:p>
          <a:p>
            <a:pPr indent="-336550" lvl="1" marL="914400" rtl="0" algn="l">
              <a:spcBef>
                <a:spcPts val="0"/>
              </a:spcBef>
              <a:spcAft>
                <a:spcPts val="0"/>
              </a:spcAft>
              <a:buSzPts val="1700"/>
              <a:buChar char="○"/>
            </a:pPr>
            <a:r>
              <a:rPr lang="ja" sz="1700"/>
              <a:t>一番オトクな食材を買ってきて</a:t>
            </a:r>
            <a:endParaRPr sz="1700"/>
          </a:p>
          <a:p>
            <a:pPr indent="-361950" lvl="0" marL="457200" rtl="0" algn="l">
              <a:spcBef>
                <a:spcPts val="0"/>
              </a:spcBef>
              <a:spcAft>
                <a:spcPts val="0"/>
              </a:spcAft>
              <a:buSzPts val="2100"/>
              <a:buChar char="●"/>
            </a:pPr>
            <a:r>
              <a:rPr lang="ja" sz="2100"/>
              <a:t>料理</a:t>
            </a:r>
            <a:endParaRPr sz="2100"/>
          </a:p>
          <a:p>
            <a:pPr indent="-336550" lvl="1" marL="914400" rtl="0" algn="l">
              <a:spcBef>
                <a:spcPts val="0"/>
              </a:spcBef>
              <a:spcAft>
                <a:spcPts val="0"/>
              </a:spcAft>
              <a:buSzPts val="1700"/>
              <a:buChar char="○"/>
            </a:pPr>
            <a:r>
              <a:rPr lang="ja" sz="1700"/>
              <a:t>レシピ通りにご飯を作ろう</a:t>
            </a:r>
            <a:endParaRPr sz="1700"/>
          </a:p>
          <a:p>
            <a:pPr indent="-361950" lvl="0" marL="457200" rtl="0" algn="l">
              <a:spcBef>
                <a:spcPts val="0"/>
              </a:spcBef>
              <a:spcAft>
                <a:spcPts val="0"/>
              </a:spcAft>
              <a:buSzPts val="2100"/>
              <a:buChar char="●"/>
            </a:pPr>
            <a:r>
              <a:rPr lang="ja" sz="2100"/>
              <a:t>餌やり</a:t>
            </a:r>
            <a:endParaRPr sz="2100"/>
          </a:p>
          <a:p>
            <a:pPr indent="-336550" lvl="1" marL="914400" rtl="0" algn="l">
              <a:spcBef>
                <a:spcPts val="0"/>
              </a:spcBef>
              <a:spcAft>
                <a:spcPts val="0"/>
              </a:spcAft>
              <a:buSzPts val="1700"/>
              <a:buChar char="○"/>
            </a:pPr>
            <a:r>
              <a:rPr lang="ja" sz="1700"/>
              <a:t>何日分のおやつがある？</a:t>
            </a:r>
            <a:endParaRPr sz="17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学び</a:t>
            </a:r>
            <a:endParaRPr/>
          </a:p>
        </p:txBody>
      </p:sp>
      <p:sp>
        <p:nvSpPr>
          <p:cNvPr id="365" name="Google Shape;365;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ja" sz="2100"/>
              <a:t>買い物パート</a:t>
            </a:r>
            <a:endParaRPr sz="2100"/>
          </a:p>
          <a:p>
            <a:pPr indent="-336550" lvl="1" marL="914400" rtl="0" algn="l">
              <a:spcBef>
                <a:spcPts val="0"/>
              </a:spcBef>
              <a:spcAft>
                <a:spcPts val="0"/>
              </a:spcAft>
              <a:buSzPts val="1700"/>
              <a:buChar char="○"/>
            </a:pPr>
            <a:r>
              <a:rPr lang="ja" sz="1700"/>
              <a:t>オトクな食材を見つけるために、1個あたりいくらかを計算させてることで、単位あたりの計算を覚えてもらう</a:t>
            </a:r>
            <a:endParaRPr sz="1700"/>
          </a:p>
          <a:p>
            <a:pPr indent="-361950" lvl="0" marL="457200" rtl="0" algn="l">
              <a:spcBef>
                <a:spcPts val="0"/>
              </a:spcBef>
              <a:spcAft>
                <a:spcPts val="0"/>
              </a:spcAft>
              <a:buSzPts val="2100"/>
              <a:buChar char="●"/>
            </a:pPr>
            <a:r>
              <a:rPr lang="ja" sz="2100"/>
              <a:t>料理パート</a:t>
            </a:r>
            <a:endParaRPr sz="2100"/>
          </a:p>
          <a:p>
            <a:pPr indent="-336550" lvl="1" marL="914400" rtl="0" algn="l">
              <a:spcBef>
                <a:spcPts val="0"/>
              </a:spcBef>
              <a:spcAft>
                <a:spcPts val="0"/>
              </a:spcAft>
              <a:buSzPts val="1700"/>
              <a:buChar char="○"/>
            </a:pPr>
            <a:r>
              <a:rPr lang="ja" sz="1700"/>
              <a:t>1人前のレシピから、2人前や3人前などをごはんを作る</a:t>
            </a:r>
            <a:endParaRPr sz="1700"/>
          </a:p>
          <a:p>
            <a:pPr indent="-361950" lvl="0" marL="457200" rtl="0" algn="l">
              <a:spcBef>
                <a:spcPts val="0"/>
              </a:spcBef>
              <a:spcAft>
                <a:spcPts val="0"/>
              </a:spcAft>
              <a:buSzPts val="2100"/>
              <a:buChar char="●"/>
            </a:pPr>
            <a:r>
              <a:rPr lang="ja" sz="2100"/>
              <a:t>餌やり</a:t>
            </a:r>
            <a:r>
              <a:rPr lang="ja" sz="2100"/>
              <a:t>パート</a:t>
            </a:r>
            <a:endParaRPr sz="2100"/>
          </a:p>
          <a:p>
            <a:pPr indent="-336550" lvl="1" marL="914400" rtl="0" algn="l">
              <a:spcBef>
                <a:spcPts val="0"/>
              </a:spcBef>
              <a:spcAft>
                <a:spcPts val="0"/>
              </a:spcAft>
              <a:buSzPts val="1700"/>
              <a:buChar char="○"/>
            </a:pPr>
            <a:r>
              <a:rPr lang="ja" sz="1700"/>
              <a:t>20個のおやつがあり、1日2個与えると何日分あるのか？</a:t>
            </a:r>
            <a:endParaRPr sz="1700"/>
          </a:p>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ゲーム性</a:t>
            </a:r>
            <a:endParaRPr/>
          </a:p>
        </p:txBody>
      </p:sp>
      <p:sp>
        <p:nvSpPr>
          <p:cNvPr id="371" name="Google Shape;371;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ゲーム性を上げるために、ペットを育成する要素を入れる</a:t>
            </a:r>
            <a:endParaRPr/>
          </a:p>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農園ゲーム（仮）</a:t>
            </a:r>
            <a:endParaRPr/>
          </a:p>
        </p:txBody>
      </p:sp>
      <p:sp>
        <p:nvSpPr>
          <p:cNvPr id="377" name="Google Shape;377;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収穫できる量、金、育つ時間を計算して、利益を出せる野菜を育てる</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8"/>
          <p:cNvSpPr/>
          <p:nvPr/>
        </p:nvSpPr>
        <p:spPr>
          <a:xfrm>
            <a:off x="136825" y="128750"/>
            <a:ext cx="2331300" cy="80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農園ゲーム（仮）</a:t>
            </a:r>
            <a:endParaRPr/>
          </a:p>
        </p:txBody>
      </p:sp>
      <p:sp>
        <p:nvSpPr>
          <p:cNvPr id="383" name="Google Shape;383;p58"/>
          <p:cNvSpPr/>
          <p:nvPr/>
        </p:nvSpPr>
        <p:spPr>
          <a:xfrm>
            <a:off x="3496200" y="128750"/>
            <a:ext cx="2331300" cy="80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1ヶ月目　春</a:t>
            </a:r>
            <a:endParaRPr/>
          </a:p>
        </p:txBody>
      </p:sp>
      <p:sp>
        <p:nvSpPr>
          <p:cNvPr id="384" name="Google Shape;384;p58"/>
          <p:cNvSpPr/>
          <p:nvPr/>
        </p:nvSpPr>
        <p:spPr>
          <a:xfrm>
            <a:off x="4253150" y="1041275"/>
            <a:ext cx="4821600" cy="4025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ja">
                <a:highlight>
                  <a:srgbClr val="00FF00"/>
                </a:highlight>
              </a:rPr>
              <a:t>マーケット </a:t>
            </a:r>
            <a:r>
              <a:rPr lang="ja"/>
              <a:t> |  ノート  |  価格</a:t>
            </a:r>
            <a:endParaRPr/>
          </a:p>
        </p:txBody>
      </p:sp>
      <p:sp>
        <p:nvSpPr>
          <p:cNvPr id="385" name="Google Shape;385;p58"/>
          <p:cNvSpPr/>
          <p:nvPr/>
        </p:nvSpPr>
        <p:spPr>
          <a:xfrm>
            <a:off x="51500" y="1041275"/>
            <a:ext cx="4031400" cy="4025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rPr lang="ja">
                <a:solidFill>
                  <a:schemeClr val="dk1"/>
                </a:solidFill>
              </a:rPr>
              <a:t>畑</a:t>
            </a:r>
            <a:endParaRPr/>
          </a:p>
        </p:txBody>
      </p:sp>
      <p:sp>
        <p:nvSpPr>
          <p:cNvPr id="386" name="Google Shape;386;p58"/>
          <p:cNvSpPr/>
          <p:nvPr/>
        </p:nvSpPr>
        <p:spPr>
          <a:xfrm>
            <a:off x="6719500" y="128750"/>
            <a:ext cx="2331300" cy="80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1000 ゴールド</a:t>
            </a:r>
            <a:endParaRPr/>
          </a:p>
        </p:txBody>
      </p:sp>
      <p:sp>
        <p:nvSpPr>
          <p:cNvPr id="387" name="Google Shape;387;p58"/>
          <p:cNvSpPr/>
          <p:nvPr/>
        </p:nvSpPr>
        <p:spPr>
          <a:xfrm>
            <a:off x="4572000" y="1423600"/>
            <a:ext cx="4337100" cy="34797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58"/>
          <p:cNvSpPr/>
          <p:nvPr/>
        </p:nvSpPr>
        <p:spPr>
          <a:xfrm>
            <a:off x="548450" y="1864900"/>
            <a:ext cx="3037500" cy="30384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10 x 10</a:t>
            </a:r>
            <a:endParaRPr/>
          </a:p>
        </p:txBody>
      </p:sp>
      <p:sp>
        <p:nvSpPr>
          <p:cNvPr id="389" name="Google Shape;389;p58"/>
          <p:cNvSpPr/>
          <p:nvPr/>
        </p:nvSpPr>
        <p:spPr>
          <a:xfrm>
            <a:off x="4901200" y="1797975"/>
            <a:ext cx="1541400" cy="135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トマト 🍅</a:t>
            </a:r>
            <a:endParaRPr/>
          </a:p>
          <a:p>
            <a:pPr indent="0" lvl="0" marL="0" rtl="0" algn="ctr">
              <a:spcBef>
                <a:spcPts val="0"/>
              </a:spcBef>
              <a:spcAft>
                <a:spcPts val="0"/>
              </a:spcAft>
              <a:buNone/>
            </a:pPr>
            <a:r>
              <a:rPr lang="ja"/>
              <a:t>価格：12 G</a:t>
            </a:r>
            <a:endParaRPr/>
          </a:p>
          <a:p>
            <a:pPr indent="0" lvl="0" marL="0" rtl="0" algn="ctr">
              <a:spcBef>
                <a:spcPts val="0"/>
              </a:spcBef>
              <a:spcAft>
                <a:spcPts val="0"/>
              </a:spcAft>
              <a:buNone/>
            </a:pPr>
            <a:r>
              <a:rPr lang="ja"/>
              <a:t>収穫まで：3ヶ月</a:t>
            </a:r>
            <a:endParaRPr/>
          </a:p>
          <a:p>
            <a:pPr indent="0" lvl="0" marL="0" rtl="0" algn="ctr">
              <a:spcBef>
                <a:spcPts val="0"/>
              </a:spcBef>
              <a:spcAft>
                <a:spcPts val="0"/>
              </a:spcAft>
              <a:buNone/>
            </a:pPr>
            <a:r>
              <a:t/>
            </a:r>
            <a:endParaRPr/>
          </a:p>
        </p:txBody>
      </p:sp>
      <p:sp>
        <p:nvSpPr>
          <p:cNvPr id="390" name="Google Shape;390;p58"/>
          <p:cNvSpPr/>
          <p:nvPr/>
        </p:nvSpPr>
        <p:spPr>
          <a:xfrm>
            <a:off x="6958850" y="1797975"/>
            <a:ext cx="1541400" cy="135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 name="Google Shape;391;p58"/>
          <p:cNvSpPr/>
          <p:nvPr/>
        </p:nvSpPr>
        <p:spPr>
          <a:xfrm>
            <a:off x="4901200" y="3305125"/>
            <a:ext cx="1541400" cy="135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 name="Google Shape;392;p58"/>
          <p:cNvSpPr/>
          <p:nvPr/>
        </p:nvSpPr>
        <p:spPr>
          <a:xfrm>
            <a:off x="6958850" y="3305125"/>
            <a:ext cx="1541400" cy="135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p58"/>
          <p:cNvSpPr/>
          <p:nvPr/>
        </p:nvSpPr>
        <p:spPr>
          <a:xfrm>
            <a:off x="5142900" y="2739950"/>
            <a:ext cx="1054200" cy="280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t>この種を植える</a:t>
            </a:r>
            <a:endParaRPr sz="9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9"/>
          <p:cNvSpPr/>
          <p:nvPr/>
        </p:nvSpPr>
        <p:spPr>
          <a:xfrm>
            <a:off x="136825" y="128750"/>
            <a:ext cx="2331300" cy="80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農園ゲーム（仮）</a:t>
            </a:r>
            <a:endParaRPr/>
          </a:p>
        </p:txBody>
      </p:sp>
      <p:sp>
        <p:nvSpPr>
          <p:cNvPr id="399" name="Google Shape;399;p59"/>
          <p:cNvSpPr/>
          <p:nvPr/>
        </p:nvSpPr>
        <p:spPr>
          <a:xfrm>
            <a:off x="3496200" y="128750"/>
            <a:ext cx="2331300" cy="80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1ヶ月目　春</a:t>
            </a:r>
            <a:endParaRPr/>
          </a:p>
        </p:txBody>
      </p:sp>
      <p:sp>
        <p:nvSpPr>
          <p:cNvPr id="400" name="Google Shape;400;p59"/>
          <p:cNvSpPr/>
          <p:nvPr/>
        </p:nvSpPr>
        <p:spPr>
          <a:xfrm>
            <a:off x="4253150" y="1041275"/>
            <a:ext cx="4821600" cy="4025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ja"/>
              <a:t>マーケット  |  </a:t>
            </a:r>
            <a:r>
              <a:rPr lang="ja">
                <a:highlight>
                  <a:srgbClr val="00FF00"/>
                </a:highlight>
              </a:rPr>
              <a:t>ノート</a:t>
            </a:r>
            <a:r>
              <a:rPr lang="ja"/>
              <a:t>  |  価格</a:t>
            </a:r>
            <a:endParaRPr/>
          </a:p>
        </p:txBody>
      </p:sp>
      <p:sp>
        <p:nvSpPr>
          <p:cNvPr id="401" name="Google Shape;401;p59"/>
          <p:cNvSpPr/>
          <p:nvPr/>
        </p:nvSpPr>
        <p:spPr>
          <a:xfrm>
            <a:off x="51500" y="1041275"/>
            <a:ext cx="4031400" cy="4025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rPr lang="ja">
                <a:solidFill>
                  <a:schemeClr val="dk1"/>
                </a:solidFill>
              </a:rPr>
              <a:t>畑</a:t>
            </a:r>
            <a:endParaRPr/>
          </a:p>
        </p:txBody>
      </p:sp>
      <p:sp>
        <p:nvSpPr>
          <p:cNvPr id="402" name="Google Shape;402;p59"/>
          <p:cNvSpPr/>
          <p:nvPr/>
        </p:nvSpPr>
        <p:spPr>
          <a:xfrm>
            <a:off x="6719500" y="128750"/>
            <a:ext cx="2331300" cy="80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1000 ゴールド</a:t>
            </a:r>
            <a:endParaRPr/>
          </a:p>
        </p:txBody>
      </p:sp>
      <p:sp>
        <p:nvSpPr>
          <p:cNvPr id="403" name="Google Shape;403;p59"/>
          <p:cNvSpPr/>
          <p:nvPr/>
        </p:nvSpPr>
        <p:spPr>
          <a:xfrm>
            <a:off x="4572000" y="1423600"/>
            <a:ext cx="4337100" cy="34797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4" name="Google Shape;404;p59"/>
          <p:cNvSpPr/>
          <p:nvPr/>
        </p:nvSpPr>
        <p:spPr>
          <a:xfrm>
            <a:off x="548450" y="1864900"/>
            <a:ext cx="3037500" cy="30384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10 x 10</a:t>
            </a:r>
            <a:endParaRPr/>
          </a:p>
        </p:txBody>
      </p:sp>
      <p:sp>
        <p:nvSpPr>
          <p:cNvPr id="405" name="Google Shape;405;p59"/>
          <p:cNvSpPr/>
          <p:nvPr/>
        </p:nvSpPr>
        <p:spPr>
          <a:xfrm>
            <a:off x="4901200" y="1797975"/>
            <a:ext cx="1541400" cy="135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トマト 🍅</a:t>
            </a:r>
            <a:endParaRPr/>
          </a:p>
          <a:p>
            <a:pPr indent="0" lvl="0" marL="0" rtl="0" algn="ctr">
              <a:spcBef>
                <a:spcPts val="0"/>
              </a:spcBef>
              <a:spcAft>
                <a:spcPts val="0"/>
              </a:spcAft>
              <a:buNone/>
            </a:pPr>
            <a:r>
              <a:rPr lang="ja"/>
              <a:t>価格：12 G</a:t>
            </a:r>
            <a:endParaRPr/>
          </a:p>
          <a:p>
            <a:pPr indent="0" lvl="0" marL="0" rtl="0" algn="ctr">
              <a:spcBef>
                <a:spcPts val="0"/>
              </a:spcBef>
              <a:spcAft>
                <a:spcPts val="0"/>
              </a:spcAft>
              <a:buNone/>
            </a:pPr>
            <a:r>
              <a:rPr lang="ja"/>
              <a:t>収穫まで：3ヶ月</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406" name="Google Shape;406;p59"/>
          <p:cNvSpPr/>
          <p:nvPr/>
        </p:nvSpPr>
        <p:spPr>
          <a:xfrm>
            <a:off x="6958850" y="1797975"/>
            <a:ext cx="1541400" cy="135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59"/>
          <p:cNvSpPr/>
          <p:nvPr/>
        </p:nvSpPr>
        <p:spPr>
          <a:xfrm>
            <a:off x="4901200" y="3305125"/>
            <a:ext cx="1541400" cy="135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8" name="Google Shape;408;p59"/>
          <p:cNvSpPr/>
          <p:nvPr/>
        </p:nvSpPr>
        <p:spPr>
          <a:xfrm>
            <a:off x="6958850" y="3305125"/>
            <a:ext cx="1541400" cy="135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59"/>
          <p:cNvSpPr/>
          <p:nvPr/>
        </p:nvSpPr>
        <p:spPr>
          <a:xfrm>
            <a:off x="5024950" y="2660725"/>
            <a:ext cx="1293900" cy="426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t>1ヶ月で 〇〇 G</a:t>
            </a:r>
            <a:endParaRPr sz="12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0"/>
          <p:cNvSpPr/>
          <p:nvPr/>
        </p:nvSpPr>
        <p:spPr>
          <a:xfrm>
            <a:off x="136825" y="128750"/>
            <a:ext cx="2331300" cy="80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農園ゲーム（仮）</a:t>
            </a:r>
            <a:endParaRPr/>
          </a:p>
        </p:txBody>
      </p:sp>
      <p:sp>
        <p:nvSpPr>
          <p:cNvPr id="415" name="Google Shape;415;p60"/>
          <p:cNvSpPr/>
          <p:nvPr/>
        </p:nvSpPr>
        <p:spPr>
          <a:xfrm>
            <a:off x="3496200" y="128750"/>
            <a:ext cx="2331300" cy="80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1ヶ月目　春</a:t>
            </a:r>
            <a:endParaRPr/>
          </a:p>
        </p:txBody>
      </p:sp>
      <p:sp>
        <p:nvSpPr>
          <p:cNvPr id="416" name="Google Shape;416;p60"/>
          <p:cNvSpPr/>
          <p:nvPr/>
        </p:nvSpPr>
        <p:spPr>
          <a:xfrm>
            <a:off x="4253150" y="1041275"/>
            <a:ext cx="4821600" cy="4025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ja"/>
              <a:t>マーケット  |  ノート  |  </a:t>
            </a:r>
            <a:r>
              <a:rPr lang="ja">
                <a:highlight>
                  <a:srgbClr val="00FF00"/>
                </a:highlight>
              </a:rPr>
              <a:t>価格</a:t>
            </a:r>
            <a:endParaRPr/>
          </a:p>
        </p:txBody>
      </p:sp>
      <p:sp>
        <p:nvSpPr>
          <p:cNvPr id="417" name="Google Shape;417;p60"/>
          <p:cNvSpPr/>
          <p:nvPr/>
        </p:nvSpPr>
        <p:spPr>
          <a:xfrm>
            <a:off x="51500" y="1041275"/>
            <a:ext cx="4031400" cy="4025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rPr lang="ja">
                <a:solidFill>
                  <a:schemeClr val="dk1"/>
                </a:solidFill>
              </a:rPr>
              <a:t>畑</a:t>
            </a:r>
            <a:endParaRPr/>
          </a:p>
        </p:txBody>
      </p:sp>
      <p:sp>
        <p:nvSpPr>
          <p:cNvPr id="418" name="Google Shape;418;p60"/>
          <p:cNvSpPr/>
          <p:nvPr/>
        </p:nvSpPr>
        <p:spPr>
          <a:xfrm>
            <a:off x="6719500" y="128750"/>
            <a:ext cx="2331300" cy="80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1000 ゴールド</a:t>
            </a:r>
            <a:endParaRPr/>
          </a:p>
        </p:txBody>
      </p:sp>
      <p:sp>
        <p:nvSpPr>
          <p:cNvPr id="419" name="Google Shape;419;p60"/>
          <p:cNvSpPr/>
          <p:nvPr/>
        </p:nvSpPr>
        <p:spPr>
          <a:xfrm>
            <a:off x="4572000" y="1423600"/>
            <a:ext cx="4337100" cy="34797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 name="Google Shape;420;p60"/>
          <p:cNvSpPr/>
          <p:nvPr/>
        </p:nvSpPr>
        <p:spPr>
          <a:xfrm>
            <a:off x="548450" y="1864900"/>
            <a:ext cx="3037500" cy="30384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10 x 10</a:t>
            </a:r>
            <a:endParaRPr/>
          </a:p>
        </p:txBody>
      </p:sp>
      <p:sp>
        <p:nvSpPr>
          <p:cNvPr id="421" name="Google Shape;421;p60"/>
          <p:cNvSpPr/>
          <p:nvPr/>
        </p:nvSpPr>
        <p:spPr>
          <a:xfrm>
            <a:off x="4874775" y="1868475"/>
            <a:ext cx="3784500" cy="255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価格変動 チャート</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ジレンマ</a:t>
            </a:r>
            <a:endParaRPr/>
          </a:p>
        </p:txBody>
      </p:sp>
      <p:graphicFrame>
        <p:nvGraphicFramePr>
          <p:cNvPr id="427" name="Google Shape;427;p61"/>
          <p:cNvGraphicFramePr/>
          <p:nvPr/>
        </p:nvGraphicFramePr>
        <p:xfrm>
          <a:off x="311700" y="1341838"/>
          <a:ext cx="3000000" cy="3000000"/>
        </p:xfrm>
        <a:graphic>
          <a:graphicData uri="http://schemas.openxmlformats.org/drawingml/2006/table">
            <a:tbl>
              <a:tblPr>
                <a:noFill/>
                <a:tableStyleId>{7C4571CF-3FED-44BE-BEF1-93D96103B562}</a:tableStyleId>
              </a:tblPr>
              <a:tblGrid>
                <a:gridCol w="1145550"/>
                <a:gridCol w="1280350"/>
                <a:gridCol w="977100"/>
                <a:gridCol w="2060250"/>
                <a:gridCol w="1533700"/>
                <a:gridCol w="1426350"/>
              </a:tblGrid>
              <a:tr h="961975">
                <a:tc>
                  <a:txBody>
                    <a:bodyPr/>
                    <a:lstStyle/>
                    <a:p>
                      <a:pPr indent="0" lvl="0" marL="0" rtl="0" algn="l">
                        <a:lnSpc>
                          <a:spcPct val="115000"/>
                        </a:lnSpc>
                        <a:spcBef>
                          <a:spcPts val="0"/>
                        </a:spcBef>
                        <a:spcAft>
                          <a:spcPts val="0"/>
                        </a:spcAft>
                        <a:buNone/>
                      </a:pPr>
                      <a:r>
                        <a:rPr lang="ja" sz="1200"/>
                        <a:t>野菜</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lang="ja" sz="1200"/>
                        <a:t>期間 (T/月)</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lang="ja" sz="1200"/>
                        <a:t>期間のリスク</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lang="ja" sz="1200"/>
                        <a:t>価格の変動のリスク</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lang="ja" sz="1200"/>
                        <a:t>1ヶ月あたりの利益 (期待値)</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lang="ja" sz="1200"/>
                        <a:t>リスクの組み合わせ</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CCCCCC"/>
                    </a:solidFill>
                  </a:tcPr>
                </a:tc>
              </a:tr>
              <a:tr h="534425">
                <a:tc>
                  <a:txBody>
                    <a:bodyPr/>
                    <a:lstStyle/>
                    <a:p>
                      <a:pPr indent="0" lvl="0" marL="0" rtl="0" algn="l">
                        <a:lnSpc>
                          <a:spcPct val="115000"/>
                        </a:lnSpc>
                        <a:spcBef>
                          <a:spcPts val="0"/>
                        </a:spcBef>
                        <a:spcAft>
                          <a:spcPts val="0"/>
                        </a:spcAft>
                        <a:buNone/>
                      </a:pPr>
                      <a:r>
                        <a:rPr lang="ja" sz="1200"/>
                        <a:t>トマト</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3ヶ月</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高 (長期)</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高 (大: ±35%)</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110 G</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高高</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CCCCCC"/>
                      </a:solidFill>
                      <a:prstDash val="solid"/>
                      <a:round/>
                      <a:headEnd len="sm" w="sm" type="none"/>
                      <a:tailEnd len="sm" w="sm" type="none"/>
                    </a:lnB>
                  </a:tcPr>
                </a:tc>
              </a:tr>
              <a:tr h="534425">
                <a:tc>
                  <a:txBody>
                    <a:bodyPr/>
                    <a:lstStyle/>
                    <a:p>
                      <a:pPr indent="0" lvl="0" marL="0" rtl="0" algn="l">
                        <a:lnSpc>
                          <a:spcPct val="115000"/>
                        </a:lnSpc>
                        <a:spcBef>
                          <a:spcPts val="0"/>
                        </a:spcBef>
                        <a:spcAft>
                          <a:spcPts val="0"/>
                        </a:spcAft>
                        <a:buNone/>
                      </a:pPr>
                      <a:r>
                        <a:rPr lang="ja" sz="1200"/>
                        <a:t>レタス</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1ヶ月</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低 (短期)</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高 (最大: -50%〜+35%)</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101.75 G</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低高</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534425">
                <a:tc>
                  <a:txBody>
                    <a:bodyPr/>
                    <a:lstStyle/>
                    <a:p>
                      <a:pPr indent="0" lvl="0" marL="0" rtl="0" algn="l">
                        <a:lnSpc>
                          <a:spcPct val="115000"/>
                        </a:lnSpc>
                        <a:spcBef>
                          <a:spcPts val="0"/>
                        </a:spcBef>
                        <a:spcAft>
                          <a:spcPts val="0"/>
                        </a:spcAft>
                        <a:buNone/>
                      </a:pPr>
                      <a:r>
                        <a:rPr lang="ja" sz="1200"/>
                        <a:t>タマネギ</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4ヶ月</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高 (長期)</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低 (小: ±10%)</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100 G</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高低</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534425">
                <a:tc>
                  <a:txBody>
                    <a:bodyPr/>
                    <a:lstStyle/>
                    <a:p>
                      <a:pPr indent="0" lvl="0" marL="0" rtl="0" algn="l">
                        <a:lnSpc>
                          <a:spcPct val="115000"/>
                        </a:lnSpc>
                        <a:spcBef>
                          <a:spcPts val="0"/>
                        </a:spcBef>
                        <a:spcAft>
                          <a:spcPts val="0"/>
                        </a:spcAft>
                        <a:buNone/>
                      </a:pPr>
                      <a:r>
                        <a:rPr lang="ja" sz="1200"/>
                        <a:t>ニンジン</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2ヶ月</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低 (短期)</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低 (小: ±10%)</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90 G</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低低</a:t>
                      </a:r>
                      <a:endParaRPr sz="1200"/>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価格</a:t>
            </a:r>
            <a:endParaRPr/>
          </a:p>
        </p:txBody>
      </p:sp>
      <p:graphicFrame>
        <p:nvGraphicFramePr>
          <p:cNvPr id="433" name="Google Shape;433;p62"/>
          <p:cNvGraphicFramePr/>
          <p:nvPr/>
        </p:nvGraphicFramePr>
        <p:xfrm>
          <a:off x="462325" y="1432150"/>
          <a:ext cx="3000000" cy="3000000"/>
        </p:xfrm>
        <a:graphic>
          <a:graphicData uri="http://schemas.openxmlformats.org/drawingml/2006/table">
            <a:tbl>
              <a:tblPr>
                <a:noFill/>
                <a:tableStyleId>{7C4571CF-3FED-44BE-BEF1-93D96103B562}</a:tableStyleId>
              </a:tblPr>
              <a:tblGrid>
                <a:gridCol w="1345700"/>
                <a:gridCol w="1504025"/>
                <a:gridCol w="1147800"/>
                <a:gridCol w="1926200"/>
                <a:gridCol w="2295625"/>
              </a:tblGrid>
              <a:tr h="580625">
                <a:tc>
                  <a:txBody>
                    <a:bodyPr/>
                    <a:lstStyle/>
                    <a:p>
                      <a:pPr indent="0" lvl="0" marL="0" rtl="0" algn="l">
                        <a:lnSpc>
                          <a:spcPct val="115000"/>
                        </a:lnSpc>
                        <a:spcBef>
                          <a:spcPts val="0"/>
                        </a:spcBef>
                        <a:spcAft>
                          <a:spcPts val="0"/>
                        </a:spcAft>
                        <a:buNone/>
                      </a:pPr>
                      <a:r>
                        <a:rPr lang="ja" sz="1200"/>
                        <a:t>作物名</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lang="ja" sz="1200"/>
                        <a:t>期間 (T/月)</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lang="ja" sz="1200"/>
                        <a:t>購入価格 (C)</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lang="ja" sz="1200"/>
                        <a:t>基本総売却額 (S)</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lang="ja" sz="1200"/>
                        <a:t>価格変動幅</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CCCCCC"/>
                    </a:solidFill>
                  </a:tcPr>
                </a:tc>
              </a:tr>
              <a:tr h="580625">
                <a:tc>
                  <a:txBody>
                    <a:bodyPr/>
                    <a:lstStyle/>
                    <a:p>
                      <a:pPr indent="0" lvl="0" marL="0" rtl="0" algn="l">
                        <a:lnSpc>
                          <a:spcPct val="115000"/>
                        </a:lnSpc>
                        <a:spcBef>
                          <a:spcPts val="0"/>
                        </a:spcBef>
                        <a:spcAft>
                          <a:spcPts val="0"/>
                        </a:spcAft>
                        <a:buNone/>
                      </a:pPr>
                      <a:r>
                        <a:rPr lang="ja" sz="1200"/>
                        <a:t>トマト</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1200"/>
                        <a:t>3</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1200"/>
                        <a:t>120</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1200"/>
                        <a:t>450</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±35%</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r>
              <a:tr h="580625">
                <a:tc>
                  <a:txBody>
                    <a:bodyPr/>
                    <a:lstStyle/>
                    <a:p>
                      <a:pPr indent="0" lvl="0" marL="0" rtl="0" algn="l">
                        <a:lnSpc>
                          <a:spcPct val="115000"/>
                        </a:lnSpc>
                        <a:spcBef>
                          <a:spcPts val="0"/>
                        </a:spcBef>
                        <a:spcAft>
                          <a:spcPts val="0"/>
                        </a:spcAft>
                        <a:buNone/>
                      </a:pPr>
                      <a:r>
                        <a:rPr lang="ja" sz="1200"/>
                        <a:t>レタス</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1200"/>
                        <a:t>1</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1200"/>
                        <a:t>50</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1200"/>
                        <a:t>160</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-50% 〜 +35%</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r>
              <a:tr h="580625">
                <a:tc>
                  <a:txBody>
                    <a:bodyPr/>
                    <a:lstStyle/>
                    <a:p>
                      <a:pPr indent="0" lvl="0" marL="0" rtl="0" algn="l">
                        <a:lnSpc>
                          <a:spcPct val="115000"/>
                        </a:lnSpc>
                        <a:spcBef>
                          <a:spcPts val="0"/>
                        </a:spcBef>
                        <a:spcAft>
                          <a:spcPts val="0"/>
                        </a:spcAft>
                        <a:buNone/>
                      </a:pPr>
                      <a:r>
                        <a:rPr lang="ja" sz="1200"/>
                        <a:t>タマネギ</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1200"/>
                        <a:t>4</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1200"/>
                        <a:t>150</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1200"/>
                        <a:t>550</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±10%</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r>
              <a:tr h="580625">
                <a:tc>
                  <a:txBody>
                    <a:bodyPr/>
                    <a:lstStyle/>
                    <a:p>
                      <a:pPr indent="0" lvl="0" marL="0" rtl="0" algn="l">
                        <a:lnSpc>
                          <a:spcPct val="115000"/>
                        </a:lnSpc>
                        <a:spcBef>
                          <a:spcPts val="0"/>
                        </a:spcBef>
                        <a:spcAft>
                          <a:spcPts val="0"/>
                        </a:spcAft>
                        <a:buNone/>
                      </a:pPr>
                      <a:r>
                        <a:rPr lang="ja" sz="1200"/>
                        <a:t>ニンジン</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1200"/>
                        <a:t>2</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1200"/>
                        <a:t>100</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1200"/>
                        <a:t>280</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200"/>
                        <a:t>±10%</a:t>
                      </a:r>
                      <a:endParaRPr sz="1200"/>
                    </a:p>
                  </a:txBody>
                  <a:tcPr marT="19050" marB="19050" marR="28575" marL="28575" anchor="b">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実装できていないもの（優先度 高）</a:t>
            </a:r>
            <a:endParaRPr/>
          </a:p>
        </p:txBody>
      </p:sp>
      <p:sp>
        <p:nvSpPr>
          <p:cNvPr id="439" name="Google Shape;439;p63"/>
          <p:cNvSpPr txBox="1"/>
          <p:nvPr>
            <p:ph idx="1" type="body"/>
          </p:nvPr>
        </p:nvSpPr>
        <p:spPr>
          <a:xfrm>
            <a:off x="311700" y="1138449"/>
            <a:ext cx="8520600" cy="37179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ja"/>
              <a:t>長押しで収穫できるようにする</a:t>
            </a:r>
            <a:endParaRPr/>
          </a:p>
          <a:p>
            <a:pPr indent="-342900" lvl="0" marL="457200" rtl="0" algn="l">
              <a:spcBef>
                <a:spcPts val="0"/>
              </a:spcBef>
              <a:spcAft>
                <a:spcPts val="0"/>
              </a:spcAft>
              <a:buSzPts val="1800"/>
              <a:buChar char="+"/>
            </a:pPr>
            <a:r>
              <a:rPr lang="ja"/>
              <a:t>効果音など追加する</a:t>
            </a:r>
            <a:endParaRPr/>
          </a:p>
          <a:p>
            <a:pPr indent="-342900" lvl="0" marL="457200" rtl="0" algn="l">
              <a:spcBef>
                <a:spcPts val="0"/>
              </a:spcBef>
              <a:spcAft>
                <a:spcPts val="0"/>
              </a:spcAft>
              <a:buSzPts val="1800"/>
              <a:buChar char="+"/>
            </a:pPr>
            <a:r>
              <a:rPr lang="ja"/>
              <a:t>お金が</a:t>
            </a:r>
            <a:r>
              <a:rPr lang="ja"/>
              <a:t>貯まる</a:t>
            </a:r>
            <a:r>
              <a:rPr lang="ja"/>
              <a:t>エフェクトの追加</a:t>
            </a:r>
            <a:endParaRPr/>
          </a:p>
          <a:p>
            <a:pPr indent="0" lvl="0" marL="0" rtl="0" algn="l">
              <a:spcBef>
                <a:spcPts val="0"/>
              </a:spcBef>
              <a:spcAft>
                <a:spcPts val="0"/>
              </a:spcAft>
              <a:buNone/>
            </a:pPr>
            <a:r>
              <a:rPr lang="ja"/>
              <a:t>↓↓↓</a:t>
            </a:r>
            <a:br>
              <a:rPr lang="ja"/>
            </a:br>
            <a:r>
              <a:rPr b="1" lang="ja"/>
              <a:t>爽快感を上げる</a:t>
            </a:r>
            <a:endParaRPr b="1"/>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ja"/>
              <a:t>ゲームの目的、ゴールを設定する</a:t>
            </a:r>
            <a:endParaRPr/>
          </a:p>
          <a:p>
            <a:pPr indent="-317500" lvl="1" marL="914400" rtl="0" algn="l">
              <a:spcBef>
                <a:spcPts val="0"/>
              </a:spcBef>
              <a:spcAft>
                <a:spcPts val="0"/>
              </a:spcAft>
              <a:buSzPts val="1400"/>
              <a:buChar char="+"/>
            </a:pPr>
            <a:r>
              <a:rPr lang="ja"/>
              <a:t>スコアアタック、タイムアタック</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ja"/>
              <a:t>デザインを整える</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ja"/>
              <a:t>ヒントの追加</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実装できていないもの（優先度 低）</a:t>
            </a:r>
            <a:endParaRPr/>
          </a:p>
        </p:txBody>
      </p:sp>
      <p:sp>
        <p:nvSpPr>
          <p:cNvPr id="445" name="Google Shape;445;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イベントの追加</a:t>
            </a:r>
            <a:endParaRPr/>
          </a:p>
          <a:p>
            <a:pPr indent="-317500" lvl="1" marL="914400" rtl="0" algn="l">
              <a:spcBef>
                <a:spcPts val="0"/>
              </a:spcBef>
              <a:spcAft>
                <a:spcPts val="0"/>
              </a:spcAft>
              <a:buSzPts val="1400"/>
              <a:buChar char="+"/>
            </a:pPr>
            <a:r>
              <a:rPr lang="ja"/>
              <a:t>台風などの災害</a:t>
            </a:r>
            <a:endParaRPr/>
          </a:p>
          <a:p>
            <a:pPr indent="-317500" lvl="1" marL="914400" rtl="0" algn="l">
              <a:spcBef>
                <a:spcPts val="0"/>
              </a:spcBef>
              <a:spcAft>
                <a:spcPts val="0"/>
              </a:spcAft>
              <a:buSzPts val="1400"/>
              <a:buChar char="+"/>
            </a:pPr>
            <a:r>
              <a:rPr lang="ja"/>
              <a:t>割引</a:t>
            </a:r>
            <a:endParaRPr/>
          </a:p>
          <a:p>
            <a:pPr indent="0" lvl="0" marL="0" rtl="0" algn="l">
              <a:spcBef>
                <a:spcPts val="0"/>
              </a:spcBef>
              <a:spcAft>
                <a:spcPts val="0"/>
              </a:spcAft>
              <a:buNone/>
            </a:pPr>
            <a:r>
              <a:rPr lang="ja"/>
              <a:t>↓↓↓</a:t>
            </a:r>
            <a:endParaRPr/>
          </a:p>
          <a:p>
            <a:pPr indent="0" lvl="0" marL="0" rtl="0" algn="l">
              <a:spcBef>
                <a:spcPts val="0"/>
              </a:spcBef>
              <a:spcAft>
                <a:spcPts val="0"/>
              </a:spcAft>
              <a:buNone/>
            </a:pPr>
            <a:r>
              <a:rPr lang="ja"/>
              <a:t>上級者向けのモードの追加</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ja"/>
              <a:t>ランキングの追加</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5"/>
          <p:cNvSpPr txBox="1"/>
          <p:nvPr>
            <p:ph idx="1" type="body"/>
          </p:nvPr>
        </p:nvSpPr>
        <p:spPr>
          <a:xfrm>
            <a:off x="311700" y="279375"/>
            <a:ext cx="8520600" cy="541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ja"/>
              <a:t>仮説検証のための証拠収集ノート </a:t>
            </a:r>
            <a:r>
              <a:rPr b="1" lang="ja"/>
              <a:t>（第2セーブポイント）</a:t>
            </a:r>
            <a:endParaRPr b="1"/>
          </a:p>
        </p:txBody>
      </p:sp>
      <p:sp>
        <p:nvSpPr>
          <p:cNvPr id="451" name="Google Shape;451;p65"/>
          <p:cNvSpPr/>
          <p:nvPr/>
        </p:nvSpPr>
        <p:spPr>
          <a:xfrm>
            <a:off x="577575" y="1190500"/>
            <a:ext cx="3691500" cy="1210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a:t>目標と手段</a:t>
            </a:r>
            <a:endParaRPr b="1"/>
          </a:p>
          <a:p>
            <a:pPr indent="0" lvl="0" marL="0" rtl="0" algn="l">
              <a:spcBef>
                <a:spcPts val="0"/>
              </a:spcBef>
              <a:spcAft>
                <a:spcPts val="0"/>
              </a:spcAft>
              <a:buNone/>
            </a:pPr>
            <a:r>
              <a:t/>
            </a:r>
            <a:endParaRPr b="1" sz="700"/>
          </a:p>
          <a:p>
            <a:pPr indent="0" lvl="0" marL="0" rtl="0" algn="l">
              <a:spcBef>
                <a:spcPts val="0"/>
              </a:spcBef>
              <a:spcAft>
                <a:spcPts val="0"/>
              </a:spcAft>
              <a:buNone/>
            </a:pPr>
            <a:r>
              <a:rPr lang="ja" sz="1000"/>
              <a:t>算数の割合（単位あたり量）の知識を身につける</a:t>
            </a:r>
            <a:endParaRPr sz="1000"/>
          </a:p>
          <a:p>
            <a:pPr indent="0" lvl="0" marL="0" rtl="0" algn="l">
              <a:spcBef>
                <a:spcPts val="0"/>
              </a:spcBef>
              <a:spcAft>
                <a:spcPts val="0"/>
              </a:spcAft>
              <a:buNone/>
            </a:pPr>
            <a:br>
              <a:rPr lang="ja" sz="1000"/>
            </a:br>
            <a:r>
              <a:rPr lang="ja" sz="1000"/>
              <a:t>それを体験的に学べるゲームを作る</a:t>
            </a:r>
            <a:endParaRPr sz="1000"/>
          </a:p>
        </p:txBody>
      </p:sp>
      <p:sp>
        <p:nvSpPr>
          <p:cNvPr id="452" name="Google Shape;452;p65"/>
          <p:cNvSpPr/>
          <p:nvPr/>
        </p:nvSpPr>
        <p:spPr>
          <a:xfrm>
            <a:off x="577575" y="2888900"/>
            <a:ext cx="3691500" cy="19755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a:t>仮説と必要な証拠</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ja" sz="1000"/>
              <a:t>仮説①</a:t>
            </a:r>
            <a:endParaRPr sz="1000"/>
          </a:p>
          <a:p>
            <a:pPr indent="0" lvl="0" marL="0" rtl="0" algn="l">
              <a:spcBef>
                <a:spcPts val="0"/>
              </a:spcBef>
              <a:spcAft>
                <a:spcPts val="0"/>
              </a:spcAft>
              <a:buNone/>
            </a:pPr>
            <a:r>
              <a:rPr lang="ja" sz="1000"/>
              <a:t>計算はできるが、式を立てることができない</a:t>
            </a:r>
            <a:endParaRPr sz="1000"/>
          </a:p>
          <a:p>
            <a:pPr indent="0" lvl="0" marL="0" rtl="0" algn="l">
              <a:spcBef>
                <a:spcPts val="0"/>
              </a:spcBef>
              <a:spcAft>
                <a:spcPts val="0"/>
              </a:spcAft>
              <a:buNone/>
            </a:pPr>
            <a:r>
              <a:rPr lang="ja" sz="1000"/>
              <a:t>→ 式と具体的な事例が結びついていないのではないか？</a:t>
            </a:r>
            <a:endParaRPr sz="1000"/>
          </a:p>
          <a:p>
            <a:pPr indent="0" lvl="0" marL="0" rtl="0" algn="l">
              <a:spcBef>
                <a:spcPts val="0"/>
              </a:spcBef>
              <a:spcAft>
                <a:spcPts val="0"/>
              </a:spcAft>
              <a:buNone/>
            </a:pPr>
            <a:r>
              <a:rPr lang="ja" sz="1000"/>
              <a:t>証拠：</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ja" sz="1000"/>
              <a:t>仮説②</a:t>
            </a:r>
            <a:endParaRPr sz="1000"/>
          </a:p>
          <a:p>
            <a:pPr indent="0" lvl="0" marL="0" rtl="0" algn="l">
              <a:spcBef>
                <a:spcPts val="0"/>
              </a:spcBef>
              <a:spcAft>
                <a:spcPts val="0"/>
              </a:spcAft>
              <a:buNone/>
            </a:pPr>
            <a:r>
              <a:rPr lang="ja" sz="1000"/>
              <a:t>ゲームのほうが楽しく学べ、定着率が高い</a:t>
            </a:r>
            <a:endParaRPr sz="1000"/>
          </a:p>
          <a:p>
            <a:pPr indent="0" lvl="0" marL="0" rtl="0" algn="l">
              <a:spcBef>
                <a:spcPts val="0"/>
              </a:spcBef>
              <a:spcAft>
                <a:spcPts val="0"/>
              </a:spcAft>
              <a:buNone/>
            </a:pPr>
            <a:r>
              <a:rPr lang="ja" sz="1000"/>
              <a:t>証拠：アンケート</a:t>
            </a:r>
            <a:endParaRPr sz="1000"/>
          </a:p>
        </p:txBody>
      </p:sp>
      <p:sp>
        <p:nvSpPr>
          <p:cNvPr id="453" name="Google Shape;453;p65"/>
          <p:cNvSpPr txBox="1"/>
          <p:nvPr/>
        </p:nvSpPr>
        <p:spPr>
          <a:xfrm>
            <a:off x="577575" y="821200"/>
            <a:ext cx="3385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solidFill>
                  <a:schemeClr val="dk2"/>
                </a:solidFill>
              </a:rPr>
              <a:t>STEP1　作戦を記入</a:t>
            </a:r>
            <a:endParaRPr sz="1200">
              <a:solidFill>
                <a:schemeClr val="dk2"/>
              </a:solidFill>
            </a:endParaRPr>
          </a:p>
        </p:txBody>
      </p:sp>
      <p:sp>
        <p:nvSpPr>
          <p:cNvPr id="454" name="Google Shape;454;p65"/>
          <p:cNvSpPr txBox="1"/>
          <p:nvPr/>
        </p:nvSpPr>
        <p:spPr>
          <a:xfrm>
            <a:off x="883275" y="2519600"/>
            <a:ext cx="3562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solidFill>
                  <a:schemeClr val="dk2"/>
                </a:solidFill>
              </a:rPr>
              <a:t>STEP2　作戦がうまくいく前提となる仮説を整理</a:t>
            </a:r>
            <a:endParaRPr sz="1200">
              <a:solidFill>
                <a:schemeClr val="dk2"/>
              </a:solidFill>
            </a:endParaRPr>
          </a:p>
        </p:txBody>
      </p:sp>
      <p:cxnSp>
        <p:nvCxnSpPr>
          <p:cNvPr id="455" name="Google Shape;455;p65"/>
          <p:cNvCxnSpPr/>
          <p:nvPr/>
        </p:nvCxnSpPr>
        <p:spPr>
          <a:xfrm>
            <a:off x="695125" y="2407325"/>
            <a:ext cx="0" cy="476100"/>
          </a:xfrm>
          <a:prstGeom prst="straightConnector1">
            <a:avLst/>
          </a:prstGeom>
          <a:noFill/>
          <a:ln cap="flat" cmpd="sng" w="9525">
            <a:solidFill>
              <a:schemeClr val="dk2"/>
            </a:solidFill>
            <a:prstDash val="solid"/>
            <a:round/>
            <a:headEnd len="med" w="med" type="none"/>
            <a:tailEnd len="med" w="med" type="triangle"/>
          </a:ln>
        </p:spPr>
      </p:cxnSp>
      <p:sp>
        <p:nvSpPr>
          <p:cNvPr id="456" name="Google Shape;456;p65"/>
          <p:cNvSpPr/>
          <p:nvPr/>
        </p:nvSpPr>
        <p:spPr>
          <a:xfrm>
            <a:off x="4850650" y="1190500"/>
            <a:ext cx="3691500" cy="3673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a:t>集めた証拠</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ja" sz="1000"/>
              <a:t>虎の巻 4 p14</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ja" sz="1000"/>
              <a:t>仮説①</a:t>
            </a:r>
            <a:endParaRPr sz="1000"/>
          </a:p>
          <a:p>
            <a:pPr indent="-292100" lvl="0" marL="457200" rtl="0" algn="l">
              <a:spcBef>
                <a:spcPts val="0"/>
              </a:spcBef>
              <a:spcAft>
                <a:spcPts val="0"/>
              </a:spcAft>
              <a:buSzPts val="1000"/>
              <a:buChar char="+"/>
            </a:pPr>
            <a:r>
              <a:rPr lang="ja" sz="1000"/>
              <a:t>ゲームプレイ前後の小テストの点数</a:t>
            </a:r>
            <a:endParaRPr sz="1000"/>
          </a:p>
          <a:p>
            <a:pPr indent="-292100" lvl="0" marL="457200" rtl="0" algn="l">
              <a:spcBef>
                <a:spcPts val="0"/>
              </a:spcBef>
              <a:spcAft>
                <a:spcPts val="0"/>
              </a:spcAft>
              <a:buSzPts val="1000"/>
              <a:buChar char="+"/>
            </a:pPr>
            <a:r>
              <a:rPr lang="ja" sz="1000"/>
              <a:t>既存の勉強法との違いをアンケート</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ja" sz="1000"/>
              <a:t>仮説②</a:t>
            </a:r>
            <a:endParaRPr sz="1000"/>
          </a:p>
          <a:p>
            <a:pPr indent="-292100" lvl="0" marL="457200" rtl="0" algn="l">
              <a:spcBef>
                <a:spcPts val="0"/>
              </a:spcBef>
              <a:spcAft>
                <a:spcPts val="0"/>
              </a:spcAft>
              <a:buSzPts val="1000"/>
              <a:buChar char="+"/>
            </a:pPr>
            <a:r>
              <a:rPr lang="ja" sz="1000"/>
              <a:t>アンケートデータ</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ja" sz="1000"/>
              <a:t>生徒向けか、教師向けか</a:t>
            </a:r>
            <a:endParaRPr sz="1000"/>
          </a:p>
          <a:p>
            <a:pPr indent="0" lvl="0" marL="0" rtl="0" algn="l">
              <a:spcBef>
                <a:spcPts val="0"/>
              </a:spcBef>
              <a:spcAft>
                <a:spcPts val="0"/>
              </a:spcAft>
              <a:buNone/>
            </a:pPr>
            <a:r>
              <a:rPr lang="ja" sz="1000"/>
              <a:t>すでに履修済みの生徒か、これから習う生徒か</a:t>
            </a:r>
            <a:endParaRPr sz="1000"/>
          </a:p>
        </p:txBody>
      </p:sp>
      <p:sp>
        <p:nvSpPr>
          <p:cNvPr id="457" name="Google Shape;457;p65"/>
          <p:cNvSpPr txBox="1"/>
          <p:nvPr/>
        </p:nvSpPr>
        <p:spPr>
          <a:xfrm>
            <a:off x="4850650" y="821200"/>
            <a:ext cx="3562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solidFill>
                  <a:schemeClr val="dk2"/>
                </a:solidFill>
              </a:rPr>
              <a:t>STEP3　仮説検証のために必要な証拠を収集</a:t>
            </a:r>
            <a:endParaRPr sz="1200">
              <a:solidFill>
                <a:schemeClr val="dk2"/>
              </a:solidFill>
            </a:endParaRPr>
          </a:p>
        </p:txBody>
      </p:sp>
      <p:cxnSp>
        <p:nvCxnSpPr>
          <p:cNvPr id="458" name="Google Shape;458;p65"/>
          <p:cNvCxnSpPr>
            <a:endCxn id="456" idx="1"/>
          </p:cNvCxnSpPr>
          <p:nvPr/>
        </p:nvCxnSpPr>
        <p:spPr>
          <a:xfrm>
            <a:off x="4263250" y="3027400"/>
            <a:ext cx="587400" cy="0"/>
          </a:xfrm>
          <a:prstGeom prst="straightConnector1">
            <a:avLst/>
          </a:prstGeom>
          <a:noFill/>
          <a:ln cap="flat" cmpd="sng" w="9525">
            <a:solidFill>
              <a:schemeClr val="dk2"/>
            </a:solidFill>
            <a:prstDash val="solid"/>
            <a:round/>
            <a:headEnd len="med" w="med" type="none"/>
            <a:tailEnd len="med" w="med" type="triangle"/>
          </a:ln>
        </p:spPr>
      </p:cxnSp>
      <p:sp>
        <p:nvSpPr>
          <p:cNvPr id="459" name="Google Shape;459;p65"/>
          <p:cNvSpPr txBox="1"/>
          <p:nvPr/>
        </p:nvSpPr>
        <p:spPr>
          <a:xfrm>
            <a:off x="577575" y="4869875"/>
            <a:ext cx="3691500" cy="3387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Clr>
                <a:schemeClr val="dk2"/>
              </a:buClr>
              <a:buSzPts val="1000"/>
              <a:buChar char="★"/>
            </a:pPr>
            <a:r>
              <a:rPr lang="ja" sz="1000">
                <a:solidFill>
                  <a:schemeClr val="dk2"/>
                </a:solidFill>
              </a:rPr>
              <a:t>無意識の仮説が見つかれば随時追加する</a:t>
            </a:r>
            <a:endParaRPr sz="1000">
              <a:solidFill>
                <a:schemeClr val="dk2"/>
              </a:solidFill>
            </a:endParaRPr>
          </a:p>
        </p:txBody>
      </p:sp>
      <p:sp>
        <p:nvSpPr>
          <p:cNvPr id="460" name="Google Shape;460;p65"/>
          <p:cNvSpPr txBox="1"/>
          <p:nvPr/>
        </p:nvSpPr>
        <p:spPr>
          <a:xfrm>
            <a:off x="4850650" y="4869875"/>
            <a:ext cx="3691500" cy="3387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Clr>
                <a:schemeClr val="dk2"/>
              </a:buClr>
              <a:buSzPts val="1000"/>
              <a:buChar char="★"/>
            </a:pPr>
            <a:r>
              <a:rPr lang="ja" sz="1000">
                <a:solidFill>
                  <a:schemeClr val="dk2"/>
                </a:solidFill>
              </a:rPr>
              <a:t>集めた証拠は保存・管理しておく</a:t>
            </a:r>
            <a:endParaRPr sz="1000">
              <a:solidFill>
                <a:schemeClr val="dk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6"/>
          <p:cNvSpPr txBox="1"/>
          <p:nvPr>
            <p:ph idx="1" type="body"/>
          </p:nvPr>
        </p:nvSpPr>
        <p:spPr>
          <a:xfrm>
            <a:off x="311700" y="279375"/>
            <a:ext cx="8520600" cy="428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ja"/>
              <a:t>仮説検証のための証拠収集ノート（記入例）</a:t>
            </a:r>
            <a:endParaRPr/>
          </a:p>
        </p:txBody>
      </p:sp>
      <p:sp>
        <p:nvSpPr>
          <p:cNvPr id="466" name="Google Shape;466;p66"/>
          <p:cNvSpPr/>
          <p:nvPr/>
        </p:nvSpPr>
        <p:spPr>
          <a:xfrm>
            <a:off x="577575" y="1190500"/>
            <a:ext cx="3691500" cy="1210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a:t>目標と手段</a:t>
            </a:r>
            <a:endParaRPr b="1"/>
          </a:p>
        </p:txBody>
      </p:sp>
      <p:sp>
        <p:nvSpPr>
          <p:cNvPr id="467" name="Google Shape;467;p66"/>
          <p:cNvSpPr/>
          <p:nvPr/>
        </p:nvSpPr>
        <p:spPr>
          <a:xfrm>
            <a:off x="577575" y="2888900"/>
            <a:ext cx="3691500" cy="19755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a:t>仮説と必要な証拠</a:t>
            </a:r>
            <a:endParaRPr b="1"/>
          </a:p>
        </p:txBody>
      </p:sp>
      <p:sp>
        <p:nvSpPr>
          <p:cNvPr id="468" name="Google Shape;468;p66"/>
          <p:cNvSpPr txBox="1"/>
          <p:nvPr/>
        </p:nvSpPr>
        <p:spPr>
          <a:xfrm>
            <a:off x="577575" y="821200"/>
            <a:ext cx="3385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solidFill>
                  <a:schemeClr val="dk2"/>
                </a:solidFill>
              </a:rPr>
              <a:t>STEP1　作戦を記入</a:t>
            </a:r>
            <a:endParaRPr sz="1200">
              <a:solidFill>
                <a:schemeClr val="dk2"/>
              </a:solidFill>
            </a:endParaRPr>
          </a:p>
        </p:txBody>
      </p:sp>
      <p:sp>
        <p:nvSpPr>
          <p:cNvPr id="469" name="Google Shape;469;p66"/>
          <p:cNvSpPr txBox="1"/>
          <p:nvPr/>
        </p:nvSpPr>
        <p:spPr>
          <a:xfrm>
            <a:off x="883275" y="2519600"/>
            <a:ext cx="3562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solidFill>
                  <a:schemeClr val="dk2"/>
                </a:solidFill>
              </a:rPr>
              <a:t>STEP2　作戦がうまくいく前提となる仮説を整理</a:t>
            </a:r>
            <a:endParaRPr sz="1200">
              <a:solidFill>
                <a:schemeClr val="dk2"/>
              </a:solidFill>
            </a:endParaRPr>
          </a:p>
        </p:txBody>
      </p:sp>
      <p:cxnSp>
        <p:nvCxnSpPr>
          <p:cNvPr id="470" name="Google Shape;470;p66"/>
          <p:cNvCxnSpPr/>
          <p:nvPr/>
        </p:nvCxnSpPr>
        <p:spPr>
          <a:xfrm>
            <a:off x="695125" y="2407325"/>
            <a:ext cx="0" cy="476100"/>
          </a:xfrm>
          <a:prstGeom prst="straightConnector1">
            <a:avLst/>
          </a:prstGeom>
          <a:noFill/>
          <a:ln cap="flat" cmpd="sng" w="9525">
            <a:solidFill>
              <a:schemeClr val="dk2"/>
            </a:solidFill>
            <a:prstDash val="solid"/>
            <a:round/>
            <a:headEnd len="med" w="med" type="none"/>
            <a:tailEnd len="med" w="med" type="triangle"/>
          </a:ln>
        </p:spPr>
      </p:cxnSp>
      <p:sp>
        <p:nvSpPr>
          <p:cNvPr id="471" name="Google Shape;471;p66"/>
          <p:cNvSpPr/>
          <p:nvPr/>
        </p:nvSpPr>
        <p:spPr>
          <a:xfrm>
            <a:off x="4850650" y="1190500"/>
            <a:ext cx="3691500" cy="3673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a:t>集めた証拠</a:t>
            </a:r>
            <a:endParaRPr b="1"/>
          </a:p>
        </p:txBody>
      </p:sp>
      <p:sp>
        <p:nvSpPr>
          <p:cNvPr id="472" name="Google Shape;472;p66"/>
          <p:cNvSpPr txBox="1"/>
          <p:nvPr/>
        </p:nvSpPr>
        <p:spPr>
          <a:xfrm>
            <a:off x="4850650" y="821200"/>
            <a:ext cx="3562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solidFill>
                  <a:schemeClr val="dk2"/>
                </a:solidFill>
              </a:rPr>
              <a:t>STEP3　仮説検証のために必要な証拠を収集</a:t>
            </a:r>
            <a:endParaRPr sz="1200">
              <a:solidFill>
                <a:schemeClr val="dk2"/>
              </a:solidFill>
            </a:endParaRPr>
          </a:p>
        </p:txBody>
      </p:sp>
      <p:cxnSp>
        <p:nvCxnSpPr>
          <p:cNvPr id="473" name="Google Shape;473;p66"/>
          <p:cNvCxnSpPr>
            <a:endCxn id="471" idx="1"/>
          </p:cNvCxnSpPr>
          <p:nvPr/>
        </p:nvCxnSpPr>
        <p:spPr>
          <a:xfrm>
            <a:off x="4263250" y="3027400"/>
            <a:ext cx="587400" cy="0"/>
          </a:xfrm>
          <a:prstGeom prst="straightConnector1">
            <a:avLst/>
          </a:prstGeom>
          <a:noFill/>
          <a:ln cap="flat" cmpd="sng" w="9525">
            <a:solidFill>
              <a:schemeClr val="dk2"/>
            </a:solidFill>
            <a:prstDash val="solid"/>
            <a:round/>
            <a:headEnd len="med" w="med" type="none"/>
            <a:tailEnd len="med" w="med" type="triangle"/>
          </a:ln>
        </p:spPr>
      </p:cxnSp>
      <p:sp>
        <p:nvSpPr>
          <p:cNvPr id="474" name="Google Shape;474;p66"/>
          <p:cNvSpPr txBox="1"/>
          <p:nvPr/>
        </p:nvSpPr>
        <p:spPr>
          <a:xfrm>
            <a:off x="577575" y="4869875"/>
            <a:ext cx="3691500" cy="3387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Clr>
                <a:schemeClr val="dk2"/>
              </a:buClr>
              <a:buSzPts val="1000"/>
              <a:buChar char="★"/>
            </a:pPr>
            <a:r>
              <a:rPr lang="ja" sz="1000">
                <a:solidFill>
                  <a:schemeClr val="dk2"/>
                </a:solidFill>
              </a:rPr>
              <a:t>無意識の仮説が見つかれば随時追加する</a:t>
            </a:r>
            <a:endParaRPr sz="1000">
              <a:solidFill>
                <a:schemeClr val="dk2"/>
              </a:solidFill>
            </a:endParaRPr>
          </a:p>
        </p:txBody>
      </p:sp>
      <p:sp>
        <p:nvSpPr>
          <p:cNvPr id="475" name="Google Shape;475;p66"/>
          <p:cNvSpPr txBox="1"/>
          <p:nvPr/>
        </p:nvSpPr>
        <p:spPr>
          <a:xfrm>
            <a:off x="4850650" y="4869875"/>
            <a:ext cx="3691500" cy="3387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Clr>
                <a:schemeClr val="dk2"/>
              </a:buClr>
              <a:buSzPts val="1000"/>
              <a:buChar char="★"/>
            </a:pPr>
            <a:r>
              <a:rPr lang="ja" sz="1000">
                <a:solidFill>
                  <a:schemeClr val="dk2"/>
                </a:solidFill>
              </a:rPr>
              <a:t>集めた証拠は保存・管理しておく</a:t>
            </a:r>
            <a:endParaRPr sz="1000">
              <a:solidFill>
                <a:schemeClr val="dk2"/>
              </a:solidFill>
            </a:endParaRPr>
          </a:p>
        </p:txBody>
      </p:sp>
      <p:sp>
        <p:nvSpPr>
          <p:cNvPr id="476" name="Google Shape;476;p66"/>
          <p:cNvSpPr txBox="1"/>
          <p:nvPr/>
        </p:nvSpPr>
        <p:spPr>
          <a:xfrm>
            <a:off x="842100" y="1537650"/>
            <a:ext cx="3244800" cy="6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000">
                <a:solidFill>
                  <a:schemeClr val="dk2"/>
                </a:solidFill>
                <a:latin typeface="HiraMinProN-W3"/>
                <a:ea typeface="HiraMinProN-W3"/>
                <a:cs typeface="HiraMinProN-W3"/>
                <a:sym typeface="HiraMinProN-W3"/>
              </a:rPr>
              <a:t>習志野市のゴミ分別の知識を身につける</a:t>
            </a:r>
            <a:endParaRPr sz="1000">
              <a:solidFill>
                <a:schemeClr val="dk2"/>
              </a:solidFill>
              <a:latin typeface="HiraMinProN-W3"/>
              <a:ea typeface="HiraMinProN-W3"/>
              <a:cs typeface="HiraMinProN-W3"/>
              <a:sym typeface="HiraMinProN-W3"/>
            </a:endParaRPr>
          </a:p>
          <a:p>
            <a:pPr indent="0" lvl="0" marL="0" rtl="0" algn="l">
              <a:spcBef>
                <a:spcPts val="0"/>
              </a:spcBef>
              <a:spcAft>
                <a:spcPts val="0"/>
              </a:spcAft>
              <a:buNone/>
            </a:pPr>
            <a:r>
              <a:rPr lang="ja" sz="1000">
                <a:solidFill>
                  <a:schemeClr val="dk2"/>
                </a:solidFill>
                <a:latin typeface="HiraMinProN-W3"/>
                <a:ea typeface="HiraMinProN-W3"/>
                <a:cs typeface="HiraMinProN-W3"/>
                <a:sym typeface="HiraMinProN-W3"/>
              </a:rPr>
              <a:t>そのためにゴミ分別の知識を身につけられるゲームを制作する</a:t>
            </a:r>
            <a:endParaRPr sz="1000">
              <a:solidFill>
                <a:schemeClr val="dk2"/>
              </a:solidFill>
              <a:latin typeface="HiraMinProN-W3"/>
              <a:ea typeface="HiraMinProN-W3"/>
              <a:cs typeface="HiraMinProN-W3"/>
              <a:sym typeface="HiraMinProN-W3"/>
            </a:endParaRPr>
          </a:p>
        </p:txBody>
      </p:sp>
      <p:sp>
        <p:nvSpPr>
          <p:cNvPr id="477" name="Google Shape;477;p66"/>
          <p:cNvSpPr txBox="1"/>
          <p:nvPr/>
        </p:nvSpPr>
        <p:spPr>
          <a:xfrm>
            <a:off x="800925" y="3236052"/>
            <a:ext cx="3244800" cy="6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000">
                <a:solidFill>
                  <a:schemeClr val="dk2"/>
                </a:solidFill>
                <a:latin typeface="HiraMinProN-W3"/>
                <a:ea typeface="HiraMinProN-W3"/>
                <a:cs typeface="HiraMinProN-W3"/>
                <a:sym typeface="HiraMinProN-W3"/>
              </a:rPr>
              <a:t>仮説①</a:t>
            </a:r>
            <a:endParaRPr sz="1000">
              <a:solidFill>
                <a:schemeClr val="dk2"/>
              </a:solidFill>
              <a:latin typeface="HiraMinProN-W3"/>
              <a:ea typeface="HiraMinProN-W3"/>
              <a:cs typeface="HiraMinProN-W3"/>
              <a:sym typeface="HiraMinProN-W3"/>
            </a:endParaRPr>
          </a:p>
          <a:p>
            <a:pPr indent="0" lvl="0" marL="0" rtl="0" algn="l">
              <a:spcBef>
                <a:spcPts val="0"/>
              </a:spcBef>
              <a:spcAft>
                <a:spcPts val="0"/>
              </a:spcAft>
              <a:buNone/>
            </a:pPr>
            <a:r>
              <a:rPr lang="ja" sz="1000">
                <a:solidFill>
                  <a:schemeClr val="dk2"/>
                </a:solidFill>
                <a:latin typeface="HiraMinProN-W3"/>
                <a:ea typeface="HiraMinProN-W3"/>
                <a:cs typeface="HiraMinProN-W3"/>
                <a:sym typeface="HiraMinProN-W3"/>
              </a:rPr>
              <a:t>そもそも習志野市の住民はゴミ分別の知識が不十分？</a:t>
            </a:r>
            <a:endParaRPr sz="1000">
              <a:solidFill>
                <a:schemeClr val="dk2"/>
              </a:solidFill>
              <a:latin typeface="HiraMinProN-W3"/>
              <a:ea typeface="HiraMinProN-W3"/>
              <a:cs typeface="HiraMinProN-W3"/>
              <a:sym typeface="HiraMinProN-W3"/>
            </a:endParaRPr>
          </a:p>
          <a:p>
            <a:pPr indent="0" lvl="0" marL="0" rtl="0" algn="l">
              <a:spcBef>
                <a:spcPts val="0"/>
              </a:spcBef>
              <a:spcAft>
                <a:spcPts val="0"/>
              </a:spcAft>
              <a:buNone/>
            </a:pPr>
            <a:r>
              <a:rPr lang="ja" sz="1000">
                <a:solidFill>
                  <a:schemeClr val="dk2"/>
                </a:solidFill>
                <a:latin typeface="HiraMinProN-W3"/>
                <a:ea typeface="HiraMinProN-W3"/>
                <a:cs typeface="HiraMinProN-W3"/>
                <a:sym typeface="HiraMinProN-W3"/>
              </a:rPr>
              <a:t>必要な証拠：ゴミ分別の知識テスト</a:t>
            </a:r>
            <a:endParaRPr sz="1000">
              <a:solidFill>
                <a:schemeClr val="dk2"/>
              </a:solidFill>
              <a:latin typeface="HiraMinProN-W3"/>
              <a:ea typeface="HiraMinProN-W3"/>
              <a:cs typeface="HiraMinProN-W3"/>
              <a:sym typeface="HiraMinProN-W3"/>
            </a:endParaRPr>
          </a:p>
        </p:txBody>
      </p:sp>
      <p:sp>
        <p:nvSpPr>
          <p:cNvPr id="478" name="Google Shape;478;p66"/>
          <p:cNvSpPr txBox="1"/>
          <p:nvPr/>
        </p:nvSpPr>
        <p:spPr>
          <a:xfrm>
            <a:off x="800925" y="4052977"/>
            <a:ext cx="3244800" cy="7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000">
                <a:solidFill>
                  <a:schemeClr val="dk2"/>
                </a:solidFill>
                <a:latin typeface="HiraMinProN-W3"/>
                <a:ea typeface="HiraMinProN-W3"/>
                <a:cs typeface="HiraMinProN-W3"/>
                <a:sym typeface="HiraMinProN-W3"/>
              </a:rPr>
              <a:t>仮説②</a:t>
            </a:r>
            <a:endParaRPr sz="1000">
              <a:solidFill>
                <a:schemeClr val="dk2"/>
              </a:solidFill>
              <a:latin typeface="HiraMinProN-W3"/>
              <a:ea typeface="HiraMinProN-W3"/>
              <a:cs typeface="HiraMinProN-W3"/>
              <a:sym typeface="HiraMinProN-W3"/>
            </a:endParaRPr>
          </a:p>
          <a:p>
            <a:pPr indent="0" lvl="0" marL="0" rtl="0" algn="l">
              <a:spcBef>
                <a:spcPts val="0"/>
              </a:spcBef>
              <a:spcAft>
                <a:spcPts val="0"/>
              </a:spcAft>
              <a:buNone/>
            </a:pPr>
            <a:r>
              <a:rPr lang="ja" sz="1000">
                <a:solidFill>
                  <a:schemeClr val="dk2"/>
                </a:solidFill>
                <a:latin typeface="HiraMinProN-W3"/>
                <a:ea typeface="HiraMinProN-W3"/>
                <a:cs typeface="HiraMinProN-W3"/>
                <a:sym typeface="HiraMinProN-W3"/>
              </a:rPr>
              <a:t>ゴミ分別の知識を身につけるのに、テキストよりゲームの方が楽しく学べるはず</a:t>
            </a:r>
            <a:endParaRPr sz="1000">
              <a:solidFill>
                <a:schemeClr val="dk2"/>
              </a:solidFill>
              <a:latin typeface="HiraMinProN-W3"/>
              <a:ea typeface="HiraMinProN-W3"/>
              <a:cs typeface="HiraMinProN-W3"/>
              <a:sym typeface="HiraMinProN-W3"/>
            </a:endParaRPr>
          </a:p>
          <a:p>
            <a:pPr indent="0" lvl="0" marL="0" rtl="0" algn="l">
              <a:spcBef>
                <a:spcPts val="0"/>
              </a:spcBef>
              <a:spcAft>
                <a:spcPts val="0"/>
              </a:spcAft>
              <a:buNone/>
            </a:pPr>
            <a:r>
              <a:rPr lang="ja" sz="1000">
                <a:solidFill>
                  <a:schemeClr val="dk2"/>
                </a:solidFill>
                <a:latin typeface="HiraMinProN-W3"/>
                <a:ea typeface="HiraMinProN-W3"/>
                <a:cs typeface="HiraMinProN-W3"/>
                <a:sym typeface="HiraMinProN-W3"/>
              </a:rPr>
              <a:t>必要な証拠：アンケート、学びに要した時間、など</a:t>
            </a:r>
            <a:endParaRPr sz="1000">
              <a:solidFill>
                <a:schemeClr val="dk2"/>
              </a:solidFill>
              <a:latin typeface="HiraMinProN-W3"/>
              <a:ea typeface="HiraMinProN-W3"/>
              <a:cs typeface="HiraMinProN-W3"/>
              <a:sym typeface="HiraMinProN-W3"/>
            </a:endParaRPr>
          </a:p>
        </p:txBody>
      </p:sp>
      <p:sp>
        <p:nvSpPr>
          <p:cNvPr id="479" name="Google Shape;479;p66"/>
          <p:cNvSpPr txBox="1"/>
          <p:nvPr/>
        </p:nvSpPr>
        <p:spPr>
          <a:xfrm>
            <a:off x="5074000" y="1627564"/>
            <a:ext cx="3244800" cy="6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000">
                <a:solidFill>
                  <a:schemeClr val="dk2"/>
                </a:solidFill>
                <a:latin typeface="HiraMinProN-W3"/>
                <a:ea typeface="HiraMinProN-W3"/>
                <a:cs typeface="HiraMinProN-W3"/>
                <a:sym typeface="HiraMinProN-W3"/>
              </a:rPr>
              <a:t>仮説①の検証に使える証拠</a:t>
            </a:r>
            <a:endParaRPr sz="1000">
              <a:solidFill>
                <a:schemeClr val="dk2"/>
              </a:solidFill>
              <a:latin typeface="HiraMinProN-W3"/>
              <a:ea typeface="HiraMinProN-W3"/>
              <a:cs typeface="HiraMinProN-W3"/>
              <a:sym typeface="HiraMinProN-W3"/>
            </a:endParaRPr>
          </a:p>
          <a:p>
            <a:pPr indent="0" lvl="0" marL="0" rtl="0" algn="l">
              <a:spcBef>
                <a:spcPts val="0"/>
              </a:spcBef>
              <a:spcAft>
                <a:spcPts val="0"/>
              </a:spcAft>
              <a:buNone/>
            </a:pPr>
            <a:r>
              <a:rPr lang="ja" sz="1000">
                <a:solidFill>
                  <a:schemeClr val="dk2"/>
                </a:solidFill>
                <a:latin typeface="HiraMinProN-W3"/>
                <a:ea typeface="HiraMinProN-W3"/>
                <a:cs typeface="HiraMinProN-W3"/>
                <a:sym typeface="HiraMinProN-W3"/>
              </a:rPr>
              <a:t>「ゴミ分別の知識テストの点数」</a:t>
            </a:r>
            <a:endParaRPr sz="1000">
              <a:solidFill>
                <a:schemeClr val="dk2"/>
              </a:solidFill>
              <a:latin typeface="HiraMinProN-W3"/>
              <a:ea typeface="HiraMinProN-W3"/>
              <a:cs typeface="HiraMinProN-W3"/>
              <a:sym typeface="HiraMinProN-W3"/>
            </a:endParaRPr>
          </a:p>
        </p:txBody>
      </p:sp>
      <p:sp>
        <p:nvSpPr>
          <p:cNvPr id="480" name="Google Shape;480;p66"/>
          <p:cNvSpPr txBox="1"/>
          <p:nvPr/>
        </p:nvSpPr>
        <p:spPr>
          <a:xfrm>
            <a:off x="5074000" y="2444490"/>
            <a:ext cx="3244800" cy="7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000">
                <a:solidFill>
                  <a:schemeClr val="dk2"/>
                </a:solidFill>
                <a:latin typeface="HiraMinProN-W3"/>
                <a:ea typeface="HiraMinProN-W3"/>
                <a:cs typeface="HiraMinProN-W3"/>
                <a:sym typeface="HiraMinProN-W3"/>
              </a:rPr>
              <a:t>仮説②の検証に使える証拠</a:t>
            </a:r>
            <a:endParaRPr sz="1000">
              <a:solidFill>
                <a:schemeClr val="dk2"/>
              </a:solidFill>
              <a:latin typeface="HiraMinProN-W3"/>
              <a:ea typeface="HiraMinProN-W3"/>
              <a:cs typeface="HiraMinProN-W3"/>
              <a:sym typeface="HiraMinProN-W3"/>
            </a:endParaRPr>
          </a:p>
          <a:p>
            <a:pPr indent="0" lvl="0" marL="0" rtl="0" algn="l">
              <a:spcBef>
                <a:spcPts val="0"/>
              </a:spcBef>
              <a:spcAft>
                <a:spcPts val="0"/>
              </a:spcAft>
              <a:buNone/>
            </a:pPr>
            <a:r>
              <a:rPr lang="ja" sz="1000">
                <a:solidFill>
                  <a:schemeClr val="dk2"/>
                </a:solidFill>
                <a:latin typeface="HiraMinProN-W3"/>
                <a:ea typeface="HiraMinProN-W3"/>
                <a:cs typeface="HiraMinProN-W3"/>
                <a:sym typeface="HiraMinProN-W3"/>
              </a:rPr>
              <a:t>「アンケートデータ」</a:t>
            </a:r>
            <a:endParaRPr sz="1000">
              <a:solidFill>
                <a:schemeClr val="dk2"/>
              </a:solidFill>
              <a:latin typeface="HiraMinProN-W3"/>
              <a:ea typeface="HiraMinProN-W3"/>
              <a:cs typeface="HiraMinProN-W3"/>
              <a:sym typeface="HiraMinProN-W3"/>
            </a:endParaRPr>
          </a:p>
          <a:p>
            <a:pPr indent="0" lvl="0" marL="0" rtl="0" algn="l">
              <a:spcBef>
                <a:spcPts val="0"/>
              </a:spcBef>
              <a:spcAft>
                <a:spcPts val="0"/>
              </a:spcAft>
              <a:buNone/>
            </a:pPr>
            <a:r>
              <a:rPr lang="ja" sz="1000">
                <a:solidFill>
                  <a:schemeClr val="dk2"/>
                </a:solidFill>
                <a:latin typeface="HiraMinProN-W3"/>
                <a:ea typeface="HiraMinProN-W3"/>
                <a:cs typeface="HiraMinProN-W3"/>
                <a:sym typeface="HiraMinProN-W3"/>
              </a:rPr>
              <a:t>「学んでいる時の様子の観察記録」、など</a:t>
            </a:r>
            <a:endParaRPr sz="1000">
              <a:solidFill>
                <a:schemeClr val="dk2"/>
              </a:solidFill>
              <a:latin typeface="HiraMinProN-W3"/>
              <a:ea typeface="HiraMinProN-W3"/>
              <a:cs typeface="HiraMinProN-W3"/>
              <a:sym typeface="HiraMinProN-W3"/>
            </a:endParaRPr>
          </a:p>
        </p:txBody>
      </p:sp>
      <p:pic>
        <p:nvPicPr>
          <p:cNvPr id="481" name="Google Shape;481;p66"/>
          <p:cNvPicPr preferRelativeResize="0"/>
          <p:nvPr/>
        </p:nvPicPr>
        <p:blipFill>
          <a:blip r:embed="rId3">
            <a:alphaModFix/>
          </a:blip>
          <a:stretch>
            <a:fillRect/>
          </a:stretch>
        </p:blipFill>
        <p:spPr>
          <a:xfrm>
            <a:off x="7422875" y="1319825"/>
            <a:ext cx="895925" cy="13574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効果測定</a:t>
            </a:r>
            <a:endParaRPr/>
          </a:p>
        </p:txBody>
      </p:sp>
      <p:sp>
        <p:nvSpPr>
          <p:cNvPr id="487" name="Google Shape;487;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このゲームを使いたいか？勧められるか？をアンケート</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対象：学生</a:t>
            </a:r>
            <a:endParaRPr/>
          </a:p>
          <a:p>
            <a:pPr indent="0" lvl="0" marL="0" rtl="0" algn="l">
              <a:spcBef>
                <a:spcPts val="1200"/>
              </a:spcBef>
              <a:spcAft>
                <a:spcPts val="1200"/>
              </a:spcAft>
              <a:buNone/>
            </a:pPr>
            <a:r>
              <a:rPr lang="ja"/>
              <a:t>方法：ゲームを一回遊んでもらい、その後アンケートする</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アンケート内容</a:t>
            </a:r>
            <a:endParaRPr/>
          </a:p>
        </p:txBody>
      </p:sp>
      <p:sp>
        <p:nvSpPr>
          <p:cNvPr id="493" name="Google Shape;493;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このゲームを使いたいか？</a:t>
            </a:r>
            <a:endParaRPr/>
          </a:p>
          <a:p>
            <a:pPr indent="-342900" lvl="0" marL="457200" rtl="0" algn="l">
              <a:spcBef>
                <a:spcPts val="0"/>
              </a:spcBef>
              <a:spcAft>
                <a:spcPts val="0"/>
              </a:spcAft>
              <a:buSzPts val="1800"/>
              <a:buAutoNum type="arabicPeriod"/>
            </a:pPr>
            <a:r>
              <a:rPr lang="ja"/>
              <a:t>楽しかったか？</a:t>
            </a:r>
            <a:endParaRPr/>
          </a:p>
          <a:p>
            <a:pPr indent="-342900" lvl="0" marL="457200" rtl="0" algn="l">
              <a:spcBef>
                <a:spcPts val="0"/>
              </a:spcBef>
              <a:spcAft>
                <a:spcPts val="0"/>
              </a:spcAft>
              <a:buSzPts val="1800"/>
              <a:buAutoNum type="arabicPeriod"/>
            </a:pPr>
            <a:r>
              <a:rPr lang="ja"/>
              <a:t>学ぶことができるか？</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仮説</a:t>
            </a:r>
            <a:endParaRPr/>
          </a:p>
        </p:txBody>
      </p:sp>
      <p:sp>
        <p:nvSpPr>
          <p:cNvPr id="499" name="Google Shape;499;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ゲームを遊ぶことによって、具体例が印象に残り、問題が解けるようになるのではないか？</a:t>
            </a:r>
            <a:endParaRPr/>
          </a:p>
          <a:p>
            <a:pPr indent="-317500" lvl="1" marL="914400" rtl="0" algn="l">
              <a:spcBef>
                <a:spcPts val="0"/>
              </a:spcBef>
              <a:spcAft>
                <a:spcPts val="0"/>
              </a:spcAft>
              <a:buSzPts val="1400"/>
              <a:buChar char="+"/>
            </a:pPr>
            <a:r>
              <a:rPr lang="ja"/>
              <a:t>具体例と計算式の結びつきが強くなる</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アンケート</a:t>
            </a:r>
            <a:endParaRPr/>
          </a:p>
        </p:txBody>
      </p:sp>
      <p:sp>
        <p:nvSpPr>
          <p:cNvPr id="505" name="Google Shape;505;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ja">
                <a:solidFill>
                  <a:schemeClr val="dk1"/>
                </a:solidFill>
              </a:rPr>
              <a:t>回答者情報（任意）</a:t>
            </a:r>
            <a:endParaRPr b="1">
              <a:solidFill>
                <a:schemeClr val="dk1"/>
              </a:solidFill>
            </a:endParaRPr>
          </a:p>
          <a:p>
            <a:pPr indent="-330200" lvl="0" marL="457200" rtl="0" algn="l">
              <a:spcBef>
                <a:spcPts val="1200"/>
              </a:spcBef>
              <a:spcAft>
                <a:spcPts val="0"/>
              </a:spcAft>
              <a:buClr>
                <a:schemeClr val="dk1"/>
              </a:buClr>
              <a:buSzPts val="1600"/>
              <a:buChar char="●"/>
            </a:pPr>
            <a:r>
              <a:rPr lang="ja" sz="1600">
                <a:solidFill>
                  <a:schemeClr val="dk1"/>
                </a:solidFill>
              </a:rPr>
              <a:t>学部・学科:</a:t>
            </a:r>
            <a:endParaRPr sz="1600">
              <a:solidFill>
                <a:schemeClr val="dk1"/>
              </a:solidFill>
            </a:endParaRPr>
          </a:p>
          <a:p>
            <a:pPr indent="-330200" lvl="0" marL="457200" rtl="0" algn="l">
              <a:spcBef>
                <a:spcPts val="0"/>
              </a:spcBef>
              <a:spcAft>
                <a:spcPts val="0"/>
              </a:spcAft>
              <a:buClr>
                <a:schemeClr val="dk1"/>
              </a:buClr>
              <a:buSzPts val="1600"/>
              <a:buChar char="●"/>
            </a:pPr>
            <a:r>
              <a:rPr lang="ja" sz="1600">
                <a:solidFill>
                  <a:schemeClr val="dk1"/>
                </a:solidFill>
              </a:rPr>
              <a:t>学年:</a:t>
            </a:r>
            <a:endParaRPr sz="1600">
              <a:solidFill>
                <a:schemeClr val="dk1"/>
              </a:solidFill>
            </a:endParaRPr>
          </a:p>
          <a:p>
            <a:pPr indent="-330200" lvl="0" marL="457200" rtl="0" algn="l">
              <a:spcBef>
                <a:spcPts val="0"/>
              </a:spcBef>
              <a:spcAft>
                <a:spcPts val="0"/>
              </a:spcAft>
              <a:buClr>
                <a:schemeClr val="dk1"/>
              </a:buClr>
              <a:buSzPts val="1600"/>
              <a:buChar char="●"/>
            </a:pPr>
            <a:r>
              <a:rPr lang="ja" sz="1600">
                <a:solidFill>
                  <a:schemeClr val="dk1"/>
                </a:solidFill>
              </a:rPr>
              <a:t>（任意）小学生向けの学習指導経験: （ある / ない）</a:t>
            </a:r>
            <a:endParaRPr sz="23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アンケート</a:t>
            </a:r>
            <a:endParaRPr/>
          </a:p>
        </p:txBody>
      </p:sp>
      <p:sp>
        <p:nvSpPr>
          <p:cNvPr id="511" name="Google Shape;511;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ja">
                <a:solidFill>
                  <a:schemeClr val="dk1"/>
                </a:solidFill>
              </a:rPr>
              <a:t>A: 注意 (Attention)</a:t>
            </a:r>
            <a:endParaRPr b="1">
              <a:solidFill>
                <a:schemeClr val="dk1"/>
              </a:solidFill>
            </a:endParaRPr>
          </a:p>
          <a:p>
            <a:pPr indent="0" lvl="0" marL="0" rtl="0" algn="l">
              <a:spcBef>
                <a:spcPts val="1200"/>
              </a:spcBef>
              <a:spcAft>
                <a:spcPts val="0"/>
              </a:spcAft>
              <a:buClr>
                <a:schemeClr val="dk1"/>
              </a:buClr>
              <a:buSzPts val="1100"/>
              <a:buFont typeface="Arial"/>
              <a:buNone/>
            </a:pPr>
            <a:r>
              <a:rPr b="1" lang="ja" sz="1600">
                <a:solidFill>
                  <a:schemeClr val="dk1"/>
                </a:solidFill>
              </a:rPr>
              <a:t>【小学5年生の興味・関心を引きつけられたか】</a:t>
            </a:r>
            <a:endParaRPr b="1" sz="1600">
              <a:solidFill>
                <a:schemeClr val="dk1"/>
              </a:solidFill>
            </a:endParaRPr>
          </a:p>
          <a:p>
            <a:pPr indent="-330200" lvl="0" marL="457200" rtl="0" algn="l">
              <a:spcBef>
                <a:spcPts val="1200"/>
              </a:spcBef>
              <a:spcAft>
                <a:spcPts val="0"/>
              </a:spcAft>
              <a:buClr>
                <a:schemeClr val="dk1"/>
              </a:buClr>
              <a:buSzPts val="1600"/>
              <a:buAutoNum type="arabicPeriod"/>
            </a:pPr>
            <a:r>
              <a:rPr b="1" lang="ja" sz="1600">
                <a:solidFill>
                  <a:schemeClr val="dk1"/>
                </a:solidFill>
              </a:rPr>
              <a:t>(A-1: 知的喚起)</a:t>
            </a:r>
            <a:r>
              <a:rPr lang="ja" sz="1600">
                <a:solidFill>
                  <a:schemeClr val="dk1"/>
                </a:solidFill>
              </a:rPr>
              <a:t> このゲームでの学習は、今までの算数の勉強（ドリルや教科書）に無い、新しい学習だと感じられると思う。</a:t>
            </a:r>
            <a:endParaRPr sz="1600">
              <a:solidFill>
                <a:schemeClr val="dk1"/>
              </a:solidFill>
            </a:endParaRPr>
          </a:p>
          <a:p>
            <a:pPr indent="-330200" lvl="0" marL="457200" rtl="0" algn="l">
              <a:spcBef>
                <a:spcPts val="0"/>
              </a:spcBef>
              <a:spcAft>
                <a:spcPts val="0"/>
              </a:spcAft>
              <a:buClr>
                <a:schemeClr val="dk1"/>
              </a:buClr>
              <a:buSzPts val="1600"/>
              <a:buAutoNum type="arabicPeriod"/>
            </a:pPr>
            <a:r>
              <a:rPr b="1" lang="ja" sz="1600">
                <a:solidFill>
                  <a:schemeClr val="dk1"/>
                </a:solidFill>
              </a:rPr>
              <a:t>(A-2: 探究心の喚起)</a:t>
            </a:r>
            <a:r>
              <a:rPr lang="ja" sz="1600">
                <a:solidFill>
                  <a:schemeClr val="dk1"/>
                </a:solidFill>
              </a:rPr>
              <a:t> このゲームでの学習は、「おもしろそう」「（計算を）やってみたい」と、わくわくさせられると思う。</a:t>
            </a:r>
            <a:endParaRPr sz="1600">
              <a:solidFill>
                <a:schemeClr val="dk1"/>
              </a:solidFill>
            </a:endParaRPr>
          </a:p>
          <a:p>
            <a:pPr indent="-330200" lvl="0" marL="457200" rtl="0" algn="l">
              <a:spcBef>
                <a:spcPts val="0"/>
              </a:spcBef>
              <a:spcAft>
                <a:spcPts val="0"/>
              </a:spcAft>
              <a:buClr>
                <a:schemeClr val="dk1"/>
              </a:buClr>
              <a:buSzPts val="1600"/>
              <a:buAutoNum type="arabicPeriod"/>
            </a:pPr>
            <a:r>
              <a:rPr b="1" lang="ja" sz="1600">
                <a:solidFill>
                  <a:schemeClr val="dk1"/>
                </a:solidFill>
              </a:rPr>
              <a:t>(A-3: 多様性)</a:t>
            </a:r>
            <a:r>
              <a:rPr lang="ja" sz="1600">
                <a:solidFill>
                  <a:schemeClr val="dk1"/>
                </a:solidFill>
              </a:rPr>
              <a:t> このゲームでの学習は、単調ではなく、作物の成長や新しい課題など、いろいろな変化があって飽きないと思う。</a:t>
            </a:r>
            <a:endParaRPr sz="23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アンケート</a:t>
            </a:r>
            <a:endParaRPr/>
          </a:p>
        </p:txBody>
      </p:sp>
      <p:sp>
        <p:nvSpPr>
          <p:cNvPr id="517" name="Google Shape;517;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ja">
                <a:solidFill>
                  <a:schemeClr val="dk1"/>
                </a:solidFill>
              </a:rPr>
              <a:t>R: 関連性 (Relevance)</a:t>
            </a:r>
            <a:endParaRPr b="1">
              <a:solidFill>
                <a:schemeClr val="dk1"/>
              </a:solidFill>
            </a:endParaRPr>
          </a:p>
          <a:p>
            <a:pPr indent="0" lvl="0" marL="0" rtl="0" algn="l">
              <a:spcBef>
                <a:spcPts val="1200"/>
              </a:spcBef>
              <a:spcAft>
                <a:spcPts val="0"/>
              </a:spcAft>
              <a:buClr>
                <a:schemeClr val="dk1"/>
              </a:buClr>
              <a:buSzPts val="1100"/>
              <a:buFont typeface="Arial"/>
              <a:buNone/>
            </a:pPr>
            <a:r>
              <a:rPr b="1" lang="ja" sz="1600">
                <a:solidFill>
                  <a:schemeClr val="dk1"/>
                </a:solidFill>
              </a:rPr>
              <a:t>【小学5年生にとって「自分ごと」として捉えられたか】</a:t>
            </a:r>
            <a:endParaRPr b="1" sz="1600">
              <a:solidFill>
                <a:schemeClr val="dk1"/>
              </a:solidFill>
            </a:endParaRPr>
          </a:p>
          <a:p>
            <a:pPr indent="-330200" lvl="0" marL="457200" rtl="0" algn="l">
              <a:spcBef>
                <a:spcPts val="1200"/>
              </a:spcBef>
              <a:spcAft>
                <a:spcPts val="0"/>
              </a:spcAft>
              <a:buClr>
                <a:schemeClr val="dk1"/>
              </a:buClr>
              <a:buSzPts val="1600"/>
              <a:buAutoNum type="arabicPeriod"/>
            </a:pPr>
            <a:r>
              <a:rPr b="1" lang="ja" sz="1600">
                <a:solidFill>
                  <a:schemeClr val="dk1"/>
                </a:solidFill>
              </a:rPr>
              <a:t>(R-1: 目的指向性)</a:t>
            </a:r>
            <a:r>
              <a:rPr lang="ja" sz="1600">
                <a:solidFill>
                  <a:schemeClr val="dk1"/>
                </a:solidFill>
              </a:rPr>
              <a:t> このゲームで学ぶ「単位あたりの計算」は、（ゲーム内だけでなく）将来の生活でも役に立つと感じられると思う。</a:t>
            </a:r>
            <a:endParaRPr sz="1600">
              <a:solidFill>
                <a:schemeClr val="dk1"/>
              </a:solidFill>
            </a:endParaRPr>
          </a:p>
          <a:p>
            <a:pPr indent="-330200" lvl="0" marL="457200" rtl="0" algn="l">
              <a:spcBef>
                <a:spcPts val="0"/>
              </a:spcBef>
              <a:spcAft>
                <a:spcPts val="0"/>
              </a:spcAft>
              <a:buClr>
                <a:schemeClr val="dk1"/>
              </a:buClr>
              <a:buSzPts val="1600"/>
              <a:buAutoNum type="arabicPeriod"/>
            </a:pPr>
            <a:r>
              <a:rPr b="1" lang="ja" sz="1600">
                <a:solidFill>
                  <a:schemeClr val="dk1"/>
                </a:solidFill>
              </a:rPr>
              <a:t>(R-2: 動機との一致)</a:t>
            </a:r>
            <a:r>
              <a:rPr lang="ja" sz="1600">
                <a:solidFill>
                  <a:schemeClr val="dk1"/>
                </a:solidFill>
              </a:rPr>
              <a:t> 「効率よく稼ぎたい」というゲームの目的と、「計算を頑張ろう」という学習の動機が、うまく結びついていると思う。</a:t>
            </a:r>
            <a:endParaRPr sz="1600">
              <a:solidFill>
                <a:schemeClr val="dk1"/>
              </a:solidFill>
            </a:endParaRPr>
          </a:p>
          <a:p>
            <a:pPr indent="-330200" lvl="0" marL="457200" rtl="0" algn="l">
              <a:spcBef>
                <a:spcPts val="0"/>
              </a:spcBef>
              <a:spcAft>
                <a:spcPts val="0"/>
              </a:spcAft>
              <a:buClr>
                <a:schemeClr val="dk1"/>
              </a:buClr>
              <a:buSzPts val="1600"/>
              <a:buAutoNum type="arabicPeriod"/>
            </a:pPr>
            <a:r>
              <a:rPr b="1" lang="ja" sz="1600">
                <a:solidFill>
                  <a:schemeClr val="dk1"/>
                </a:solidFill>
              </a:rPr>
              <a:t>(R-3: 親しみやすさ)</a:t>
            </a:r>
            <a:r>
              <a:rPr lang="ja" sz="1600">
                <a:solidFill>
                  <a:schemeClr val="dk1"/>
                </a:solidFill>
              </a:rPr>
              <a:t> 「農園」というテーマは、小学5年生にとって親しみやすいと思う。</a:t>
            </a:r>
            <a:endParaRPr sz="23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アンケート</a:t>
            </a:r>
            <a:endParaRPr/>
          </a:p>
        </p:txBody>
      </p:sp>
      <p:sp>
        <p:nvSpPr>
          <p:cNvPr id="523" name="Google Shape;523;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ja">
                <a:solidFill>
                  <a:schemeClr val="dk1"/>
                </a:solidFill>
              </a:rPr>
              <a:t>C: 自信 (Confidence)</a:t>
            </a:r>
            <a:endParaRPr b="1">
              <a:solidFill>
                <a:schemeClr val="dk1"/>
              </a:solidFill>
            </a:endParaRPr>
          </a:p>
          <a:p>
            <a:pPr indent="0" lvl="0" marL="0" rtl="0" algn="l">
              <a:spcBef>
                <a:spcPts val="1200"/>
              </a:spcBef>
              <a:spcAft>
                <a:spcPts val="0"/>
              </a:spcAft>
              <a:buClr>
                <a:schemeClr val="dk1"/>
              </a:buClr>
              <a:buSzPts val="1100"/>
              <a:buFont typeface="Arial"/>
              <a:buNone/>
            </a:pPr>
            <a:r>
              <a:rPr b="1" lang="ja" sz="1600">
                <a:solidFill>
                  <a:schemeClr val="dk1"/>
                </a:solidFill>
              </a:rPr>
              <a:t>【小学5年生が「やればできそうだ」と感じられたか】</a:t>
            </a:r>
            <a:endParaRPr b="1" sz="1600">
              <a:solidFill>
                <a:schemeClr val="dk1"/>
              </a:solidFill>
            </a:endParaRPr>
          </a:p>
          <a:p>
            <a:pPr indent="-330200" lvl="0" marL="457200" rtl="0" algn="l">
              <a:spcBef>
                <a:spcPts val="1200"/>
              </a:spcBef>
              <a:spcAft>
                <a:spcPts val="0"/>
              </a:spcAft>
              <a:buClr>
                <a:schemeClr val="dk1"/>
              </a:buClr>
              <a:buSzPts val="1600"/>
              <a:buAutoNum type="arabicPeriod"/>
            </a:pPr>
            <a:r>
              <a:rPr b="1" lang="ja" sz="1600">
                <a:solidFill>
                  <a:schemeClr val="dk1"/>
                </a:solidFill>
              </a:rPr>
              <a:t>(C-1: 学習要求)</a:t>
            </a:r>
            <a:r>
              <a:rPr lang="ja" sz="1600">
                <a:solidFill>
                  <a:schemeClr val="dk1"/>
                </a:solidFill>
              </a:rPr>
              <a:t> ゲームの中で「何を計算すればよいか」「何を学ぶべきか」という目標が、はっきりと示されていたと思う。</a:t>
            </a:r>
            <a:endParaRPr sz="1600">
              <a:solidFill>
                <a:schemeClr val="dk1"/>
              </a:solidFill>
            </a:endParaRPr>
          </a:p>
          <a:p>
            <a:pPr indent="-330200" lvl="0" marL="457200" rtl="0" algn="l">
              <a:spcBef>
                <a:spcPts val="0"/>
              </a:spcBef>
              <a:spcAft>
                <a:spcPts val="0"/>
              </a:spcAft>
              <a:buClr>
                <a:schemeClr val="dk1"/>
              </a:buClr>
              <a:buSzPts val="1600"/>
              <a:buAutoNum type="arabicPeriod"/>
            </a:pPr>
            <a:r>
              <a:rPr b="1" lang="ja" sz="1600">
                <a:solidFill>
                  <a:schemeClr val="dk1"/>
                </a:solidFill>
              </a:rPr>
              <a:t>(C-2: 成功の機会)</a:t>
            </a:r>
            <a:r>
              <a:rPr lang="ja" sz="1600">
                <a:solidFill>
                  <a:schemeClr val="dk1"/>
                </a:solidFill>
              </a:rPr>
              <a:t> ゲームをプレイする中で、「計算ができた」「（単位あたりの意味が）わかった」という体験ができて、自信がつくと思う。</a:t>
            </a:r>
            <a:endParaRPr sz="1600">
              <a:solidFill>
                <a:schemeClr val="dk1"/>
              </a:solidFill>
            </a:endParaRPr>
          </a:p>
          <a:p>
            <a:pPr indent="-330200" lvl="0" marL="457200" rtl="0" algn="l">
              <a:spcBef>
                <a:spcPts val="0"/>
              </a:spcBef>
              <a:spcAft>
                <a:spcPts val="0"/>
              </a:spcAft>
              <a:buClr>
                <a:schemeClr val="dk1"/>
              </a:buClr>
              <a:buSzPts val="1600"/>
              <a:buAutoNum type="arabicPeriod"/>
            </a:pPr>
            <a:r>
              <a:rPr b="1" lang="ja" sz="1600">
                <a:solidFill>
                  <a:schemeClr val="dk1"/>
                </a:solidFill>
              </a:rPr>
              <a:t>(C-3: 個人的なコントロール)</a:t>
            </a:r>
            <a:r>
              <a:rPr lang="ja" sz="1600">
                <a:solidFill>
                  <a:schemeClr val="dk1"/>
                </a:solidFill>
              </a:rPr>
              <a:t> このゲームは、計算に時間がかかっても、小学5年生が自分のペースで考えて学習できるように作られていると思う。</a:t>
            </a:r>
            <a:endParaRPr sz="23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アンケート</a:t>
            </a:r>
            <a:endParaRPr/>
          </a:p>
        </p:txBody>
      </p:sp>
      <p:sp>
        <p:nvSpPr>
          <p:cNvPr id="529" name="Google Shape;529;p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ja">
                <a:solidFill>
                  <a:schemeClr val="dk1"/>
                </a:solidFill>
              </a:rPr>
              <a:t>S: 満足感 (Satisfaction)</a:t>
            </a:r>
            <a:endParaRPr b="1">
              <a:solidFill>
                <a:schemeClr val="dk1"/>
              </a:solidFill>
            </a:endParaRPr>
          </a:p>
          <a:p>
            <a:pPr indent="0" lvl="0" marL="0" rtl="0" algn="l">
              <a:spcBef>
                <a:spcPts val="1200"/>
              </a:spcBef>
              <a:spcAft>
                <a:spcPts val="0"/>
              </a:spcAft>
              <a:buNone/>
            </a:pPr>
            <a:r>
              <a:rPr b="1" lang="ja" sz="1600">
                <a:solidFill>
                  <a:schemeClr val="dk1"/>
                </a:solidFill>
              </a:rPr>
              <a:t>【小学5年生が「学んでよかった」と感じられたか】</a:t>
            </a:r>
            <a:endParaRPr b="1" sz="1600">
              <a:solidFill>
                <a:schemeClr val="dk1"/>
              </a:solidFill>
            </a:endParaRPr>
          </a:p>
          <a:p>
            <a:pPr indent="-330200" lvl="0" marL="457200" rtl="0" algn="l">
              <a:spcBef>
                <a:spcPts val="1200"/>
              </a:spcBef>
              <a:spcAft>
                <a:spcPts val="0"/>
              </a:spcAft>
              <a:buClr>
                <a:schemeClr val="dk1"/>
              </a:buClr>
              <a:buSzPts val="1600"/>
              <a:buAutoNum type="arabicPeriod"/>
            </a:pPr>
            <a:r>
              <a:rPr b="1" lang="ja" sz="1600">
                <a:solidFill>
                  <a:schemeClr val="dk1"/>
                </a:solidFill>
              </a:rPr>
              <a:t>(S-1: 自然な結果)</a:t>
            </a:r>
            <a:r>
              <a:rPr lang="ja" sz="1600">
                <a:solidFill>
                  <a:schemeClr val="dk1"/>
                </a:solidFill>
              </a:rPr>
              <a:t> このゲームでの学習体験全体に、小学5年生は満足すると思う。</a:t>
            </a:r>
            <a:endParaRPr sz="1600">
              <a:solidFill>
                <a:schemeClr val="dk1"/>
              </a:solidFill>
            </a:endParaRPr>
          </a:p>
          <a:p>
            <a:pPr indent="-330200" lvl="0" marL="457200" rtl="0" algn="l">
              <a:spcBef>
                <a:spcPts val="0"/>
              </a:spcBef>
              <a:spcAft>
                <a:spcPts val="0"/>
              </a:spcAft>
              <a:buClr>
                <a:schemeClr val="dk1"/>
              </a:buClr>
              <a:buSzPts val="1600"/>
              <a:buAutoNum type="arabicPeriod"/>
            </a:pPr>
            <a:r>
              <a:rPr b="1" lang="ja" sz="1600">
                <a:solidFill>
                  <a:schemeClr val="dk1"/>
                </a:solidFill>
              </a:rPr>
              <a:t>(S-2: 肯定的な結果)</a:t>
            </a:r>
            <a:r>
              <a:rPr lang="ja" sz="1600">
                <a:solidFill>
                  <a:schemeClr val="dk1"/>
                </a:solidFill>
              </a:rPr>
              <a:t> このゲームは楽しいので、小学5年生は「（単位あたりの計算を）これからもこのゲームで学びたい」と思うだろう。</a:t>
            </a:r>
            <a:endParaRPr sz="1600">
              <a:solidFill>
                <a:schemeClr val="dk1"/>
              </a:solidFill>
            </a:endParaRPr>
          </a:p>
          <a:p>
            <a:pPr indent="-330200" lvl="0" marL="457200" rtl="0" algn="l">
              <a:spcBef>
                <a:spcPts val="0"/>
              </a:spcBef>
              <a:spcAft>
                <a:spcPts val="0"/>
              </a:spcAft>
              <a:buClr>
                <a:schemeClr val="dk1"/>
              </a:buClr>
              <a:buSzPts val="1600"/>
              <a:buAutoNum type="arabicPeriod"/>
            </a:pPr>
            <a:r>
              <a:rPr b="1" lang="ja" sz="1600">
                <a:solidFill>
                  <a:schemeClr val="dk1"/>
                </a:solidFill>
              </a:rPr>
              <a:t>(S-3: 公平さ・妥当性)</a:t>
            </a:r>
            <a:r>
              <a:rPr lang="ja" sz="1600">
                <a:solidFill>
                  <a:schemeClr val="dk1"/>
                </a:solidFill>
              </a:rPr>
              <a:t> ゲームで学んだ「単位あたりの計算」の内容は、小学5年生にとって分かりやすかったと思う。</a:t>
            </a:r>
            <a:endParaRPr b="1" sz="2300">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アンケート</a:t>
            </a:r>
            <a:endParaRPr/>
          </a:p>
        </p:txBody>
      </p:sp>
      <p:sp>
        <p:nvSpPr>
          <p:cNvPr id="535" name="Google Shape;535;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ja">
                <a:solidFill>
                  <a:schemeClr val="dk1"/>
                </a:solidFill>
              </a:rPr>
              <a:t>自由記述</a:t>
            </a:r>
            <a:endParaRPr b="1">
              <a:solidFill>
                <a:schemeClr val="dk1"/>
              </a:solidFill>
            </a:endParaRPr>
          </a:p>
          <a:p>
            <a:pPr indent="-330200" lvl="0" marL="457200" rtl="0" algn="l">
              <a:spcBef>
                <a:spcPts val="1200"/>
              </a:spcBef>
              <a:spcAft>
                <a:spcPts val="0"/>
              </a:spcAft>
              <a:buClr>
                <a:schemeClr val="dk1"/>
              </a:buClr>
              <a:buSzPts val="1600"/>
              <a:buChar char="●"/>
            </a:pPr>
            <a:r>
              <a:rPr lang="ja" sz="1600">
                <a:solidFill>
                  <a:schemeClr val="dk1"/>
                </a:solidFill>
              </a:rPr>
              <a:t>このゲームについて、特に小学5年生の</a:t>
            </a:r>
            <a:r>
              <a:rPr b="1" lang="ja" sz="1600">
                <a:solidFill>
                  <a:schemeClr val="dk1"/>
                </a:solidFill>
              </a:rPr>
              <a:t>学習意欲を高める</a:t>
            </a:r>
            <a:r>
              <a:rPr lang="ja" sz="1600">
                <a:solidFill>
                  <a:schemeClr val="dk1"/>
                </a:solidFill>
              </a:rPr>
              <a:t>と感じた点（デザイン、演出、ゲーム性など）を教えてください。</a:t>
            </a:r>
            <a:endParaRPr sz="1600">
              <a:solidFill>
                <a:schemeClr val="dk1"/>
              </a:solidFill>
            </a:endParaRPr>
          </a:p>
          <a:p>
            <a:pPr indent="-330200" lvl="0" marL="457200" rtl="0" algn="l">
              <a:spcBef>
                <a:spcPts val="0"/>
              </a:spcBef>
              <a:spcAft>
                <a:spcPts val="0"/>
              </a:spcAft>
              <a:buClr>
                <a:schemeClr val="dk1"/>
              </a:buClr>
              <a:buSzPts val="1600"/>
              <a:buChar char="●"/>
            </a:pPr>
            <a:r>
              <a:rPr lang="ja" sz="1600">
                <a:solidFill>
                  <a:schemeClr val="dk1"/>
                </a:solidFill>
              </a:rPr>
              <a:t>このゲームについて、逆に小学5年生の</a:t>
            </a:r>
            <a:r>
              <a:rPr b="1" lang="ja" sz="1600">
                <a:solidFill>
                  <a:schemeClr val="dk1"/>
                </a:solidFill>
              </a:rPr>
              <a:t>学習意欲を下げてしまう</a:t>
            </a:r>
            <a:r>
              <a:rPr lang="ja" sz="1600">
                <a:solidFill>
                  <a:schemeClr val="dk1"/>
                </a:solidFill>
              </a:rPr>
              <a:t>可能性のある点（退屈な部分、難しすぎる部分など）を教えてください。</a:t>
            </a:r>
            <a:endParaRPr b="1" sz="2300">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実験概要</a:t>
            </a:r>
            <a:endParaRPr/>
          </a:p>
        </p:txBody>
      </p:sp>
      <p:sp>
        <p:nvSpPr>
          <p:cNvPr id="541" name="Google Shape;541;p7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小学5年生向けの教材を教える側に評価してもらう。</a:t>
            </a:r>
            <a:endParaRPr/>
          </a:p>
          <a:p>
            <a:pPr indent="0" lvl="0" marL="0" rtl="0" algn="l">
              <a:spcBef>
                <a:spcPts val="1200"/>
              </a:spcBef>
              <a:spcAft>
                <a:spcPts val="0"/>
              </a:spcAft>
              <a:buNone/>
            </a:pPr>
            <a:r>
              <a:rPr lang="ja"/>
              <a:t>実験参加者：学生</a:t>
            </a:r>
            <a:endParaRPr/>
          </a:p>
          <a:p>
            <a:pPr indent="0" lvl="0" marL="0" rtl="0" algn="l">
              <a:spcBef>
                <a:spcPts val="1200"/>
              </a:spcBef>
              <a:spcAft>
                <a:spcPts val="0"/>
              </a:spcAft>
              <a:buNone/>
            </a:pPr>
            <a:r>
              <a:rPr lang="ja"/>
              <a:t>人数：未定</a:t>
            </a:r>
            <a:endParaRPr/>
          </a:p>
          <a:p>
            <a:pPr indent="0" lvl="0" marL="0" rtl="0" algn="l">
              <a:spcBef>
                <a:spcPts val="1200"/>
              </a:spcBef>
              <a:spcAft>
                <a:spcPts val="0"/>
              </a:spcAft>
              <a:buNone/>
            </a:pPr>
            <a:r>
              <a:rPr lang="ja"/>
              <a:t>期間：未定（）</a:t>
            </a:r>
            <a:endParaRPr/>
          </a:p>
          <a:p>
            <a:pPr indent="0" lvl="0" marL="0" rtl="0" algn="l">
              <a:spcBef>
                <a:spcPts val="1200"/>
              </a:spcBef>
              <a:spcAft>
                <a:spcPts val="1200"/>
              </a:spcAft>
              <a:buNone/>
            </a:pPr>
            <a:r>
              <a:rPr lang="ja"/>
              <a:t>実験機材：PC</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現状</a:t>
            </a:r>
            <a:endParaRPr/>
          </a:p>
        </p:txBody>
      </p:sp>
      <p:sp>
        <p:nvSpPr>
          <p:cNvPr id="547" name="Google Shape;547;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「このゲームによって、「単位あたり」の計算を学ぶことができると思うか。」</a:t>
            </a:r>
            <a:br>
              <a:rPr lang="ja"/>
            </a:br>
            <a:r>
              <a:rPr lang="ja"/>
              <a:t>この文言をアンケートに追加</a:t>
            </a:r>
            <a:endParaRPr/>
          </a:p>
          <a:p>
            <a:pPr indent="-342900" lvl="0" marL="457200" rtl="0" algn="l">
              <a:spcBef>
                <a:spcPts val="0"/>
              </a:spcBef>
              <a:spcAft>
                <a:spcPts val="0"/>
              </a:spcAft>
              <a:buSzPts val="1800"/>
              <a:buChar char="+"/>
            </a:pPr>
            <a:r>
              <a:rPr lang="ja"/>
              <a:t>同意書の作成やゲームのURLなど、実験をする環境が整った</a:t>
            </a:r>
            <a:br>
              <a:rPr lang="ja"/>
            </a:br>
            <a:br>
              <a:rPr lang="ja"/>
            </a:br>
            <a:br>
              <a:rPr lang="ja"/>
            </a:br>
            <a:r>
              <a:rPr lang="ja" sz="2200"/>
              <a:t>問題</a:t>
            </a:r>
            <a:endParaRPr sz="2200"/>
          </a:p>
          <a:p>
            <a:pPr indent="-342900" lvl="0" marL="457200" rtl="0" algn="l">
              <a:spcBef>
                <a:spcPts val="0"/>
              </a:spcBef>
              <a:spcAft>
                <a:spcPts val="0"/>
              </a:spcAft>
              <a:buSzPts val="1800"/>
              <a:buChar char="+"/>
            </a:pPr>
            <a:r>
              <a:rPr lang="ja"/>
              <a:t>スマホだと、表示が崩れる</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卒業研究の実験協力のお願い</a:t>
            </a:r>
            <a:endParaRPr/>
          </a:p>
        </p:txBody>
      </p:sp>
      <p:pic>
        <p:nvPicPr>
          <p:cNvPr id="553" name="Google Shape;553;p78"/>
          <p:cNvPicPr preferRelativeResize="0"/>
          <p:nvPr/>
        </p:nvPicPr>
        <p:blipFill>
          <a:blip r:embed="rId3">
            <a:alphaModFix/>
          </a:blip>
          <a:stretch>
            <a:fillRect/>
          </a:stretch>
        </p:blipFill>
        <p:spPr>
          <a:xfrm>
            <a:off x="5269900" y="1285600"/>
            <a:ext cx="3562400" cy="3562400"/>
          </a:xfrm>
          <a:prstGeom prst="rect">
            <a:avLst/>
          </a:prstGeom>
          <a:noFill/>
          <a:ln>
            <a:noFill/>
          </a:ln>
        </p:spPr>
      </p:pic>
      <p:sp>
        <p:nvSpPr>
          <p:cNvPr id="554" name="Google Shape;554;p78"/>
          <p:cNvSpPr txBox="1"/>
          <p:nvPr/>
        </p:nvSpPr>
        <p:spPr>
          <a:xfrm>
            <a:off x="311700" y="1100175"/>
            <a:ext cx="5227800" cy="223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900" u="sng">
                <a:solidFill>
                  <a:schemeClr val="hlink"/>
                </a:solidFill>
                <a:hlinkClick r:id="rId4"/>
              </a:rPr>
              <a:t>https://cccase.github.io/GAME_SOTSUKEN2/</a:t>
            </a:r>
            <a:br>
              <a:rPr lang="ja" sz="1900"/>
            </a:br>
            <a:br>
              <a:rPr lang="ja" sz="1900"/>
            </a:br>
            <a:r>
              <a:rPr lang="ja" sz="1900"/>
              <a:t>本研究はアンケート結果の分析を主目的としております。</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ja" sz="1900"/>
              <a:t>必ず最後のアンケートに</a:t>
            </a:r>
            <a:endParaRPr sz="1900"/>
          </a:p>
          <a:p>
            <a:pPr indent="0" lvl="0" marL="0" rtl="0" algn="l">
              <a:spcBef>
                <a:spcPts val="0"/>
              </a:spcBef>
              <a:spcAft>
                <a:spcPts val="0"/>
              </a:spcAft>
              <a:buNone/>
            </a:pPr>
            <a:r>
              <a:rPr lang="ja" sz="1900"/>
              <a:t>お答えいただきますようお願いします。</a:t>
            </a:r>
            <a:endParaRPr sz="1900"/>
          </a:p>
        </p:txBody>
      </p:sp>
      <p:sp>
        <p:nvSpPr>
          <p:cNvPr id="555" name="Google Shape;555;p78"/>
          <p:cNvSpPr txBox="1"/>
          <p:nvPr/>
        </p:nvSpPr>
        <p:spPr>
          <a:xfrm>
            <a:off x="311700" y="3572075"/>
            <a:ext cx="52278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900"/>
              <a:t>[日本大学 生産工学部 数理情報工学科]</a:t>
            </a:r>
            <a:endParaRPr sz="1900"/>
          </a:p>
          <a:p>
            <a:pPr indent="0" lvl="0" marL="0" rtl="0" algn="l">
              <a:spcBef>
                <a:spcPts val="0"/>
              </a:spcBef>
              <a:spcAft>
                <a:spcPts val="0"/>
              </a:spcAft>
              <a:buNone/>
            </a:pPr>
            <a:r>
              <a:rPr lang="ja" sz="1900"/>
              <a:t>学生研究者：[難波 航星]</a:t>
            </a:r>
            <a:endParaRPr sz="1900"/>
          </a:p>
          <a:p>
            <a:pPr indent="0" lvl="0" marL="0" rtl="0" algn="l">
              <a:spcBef>
                <a:spcPts val="0"/>
              </a:spcBef>
              <a:spcAft>
                <a:spcPts val="0"/>
              </a:spcAft>
              <a:buNone/>
            </a:pPr>
            <a:r>
              <a:rPr lang="ja" sz="1900"/>
              <a:t>指導教員：[財津 康輔]</a:t>
            </a:r>
            <a:endParaRPr sz="1900"/>
          </a:p>
        </p:txBody>
      </p:sp>
      <p:sp>
        <p:nvSpPr>
          <p:cNvPr id="556" name="Google Shape;556;p78"/>
          <p:cNvSpPr txBox="1"/>
          <p:nvPr/>
        </p:nvSpPr>
        <p:spPr>
          <a:xfrm>
            <a:off x="5356200" y="1387050"/>
            <a:ext cx="3510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